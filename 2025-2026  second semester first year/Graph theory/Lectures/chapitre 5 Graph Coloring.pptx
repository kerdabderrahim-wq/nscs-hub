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9144000"/>
  <p:notesSz cx="9144000" cy="6858000"/>
  <p:embeddedFontLst>
    <p:embeddedFont>
      <p:font typeface="Constantia"/>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8" roundtripDataSignature="AMtx7mitGjGsJJ/Hn3AVcuGY2V3cGzxO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96D6D0-48A0-4250-933E-28DF59EA40AD}">
  <a:tblStyle styleId="{6596D6D0-48A0-4250-933E-28DF59EA40A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Constantia-bold.fntdata"/><Relationship Id="rId12" Type="http://schemas.openxmlformats.org/officeDocument/2006/relationships/slide" Target="slides/slide6.xml"/><Relationship Id="rId34" Type="http://schemas.openxmlformats.org/officeDocument/2006/relationships/font" Target="fonts/Constantia-regular.fntdata"/><Relationship Id="rId15" Type="http://schemas.openxmlformats.org/officeDocument/2006/relationships/slide" Target="slides/slide9.xml"/><Relationship Id="rId37" Type="http://schemas.openxmlformats.org/officeDocument/2006/relationships/font" Target="fonts/Constantia-boldItalic.fntdata"/><Relationship Id="rId14" Type="http://schemas.openxmlformats.org/officeDocument/2006/relationships/slide" Target="slides/slide8.xml"/><Relationship Id="rId36" Type="http://schemas.openxmlformats.org/officeDocument/2006/relationships/font" Target="fonts/Constantia-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6" name="Shape 16"/>
        <p:cNvGrpSpPr/>
        <p:nvPr/>
      </p:nvGrpSpPr>
      <p:grpSpPr>
        <a:xfrm>
          <a:off x="0" y="0"/>
          <a:ext cx="0" cy="0"/>
          <a:chOff x="0" y="0"/>
          <a:chExt cx="0" cy="0"/>
        </a:xfrm>
      </p:grpSpPr>
      <p:sp>
        <p:nvSpPr>
          <p:cNvPr id="17" name="Google Shape;17;p29"/>
          <p:cNvSpPr txBox="1"/>
          <p:nvPr>
            <p:ph type="title"/>
          </p:nvPr>
        </p:nvSpPr>
        <p:spPr>
          <a:xfrm>
            <a:off x="-12700" y="413461"/>
            <a:ext cx="3218815" cy="5124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rgbClr val="5FF3C9"/>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30"/>
          <p:cNvSpPr txBox="1"/>
          <p:nvPr>
            <p:ph type="title"/>
          </p:nvPr>
        </p:nvSpPr>
        <p:spPr>
          <a:xfrm>
            <a:off x="-12700" y="413461"/>
            <a:ext cx="3218815" cy="5124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rgbClr val="5FF3C9"/>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577340"/>
            <a:ext cx="822960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3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 name="Shape 31"/>
        <p:cNvGrpSpPr/>
        <p:nvPr/>
      </p:nvGrpSpPr>
      <p:grpSpPr>
        <a:xfrm>
          <a:off x="0" y="0"/>
          <a:ext cx="0" cy="0"/>
          <a:chOff x="0" y="0"/>
          <a:chExt cx="0" cy="0"/>
        </a:xfrm>
      </p:grpSpPr>
      <p:sp>
        <p:nvSpPr>
          <p:cNvPr id="32" name="Google Shape;32;p32"/>
          <p:cNvSpPr txBox="1"/>
          <p:nvPr>
            <p:ph type="ctrTitle"/>
          </p:nvPr>
        </p:nvSpPr>
        <p:spPr>
          <a:xfrm>
            <a:off x="-12700" y="413461"/>
            <a:ext cx="7906384" cy="5124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rgbClr val="5FF3C9"/>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2"/>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33"/>
          <p:cNvSpPr txBox="1"/>
          <p:nvPr>
            <p:ph type="title"/>
          </p:nvPr>
        </p:nvSpPr>
        <p:spPr>
          <a:xfrm>
            <a:off x="-12700" y="413461"/>
            <a:ext cx="3218815" cy="5124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rgbClr val="5FF3C9"/>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3"/>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33"/>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33"/>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1.png"/><Relationship Id="rId11" Type="http://schemas.openxmlformats.org/officeDocument/2006/relationships/theme" Target="../theme/theme2.xml"/><Relationship Id="rId10" Type="http://schemas.openxmlformats.org/officeDocument/2006/relationships/slideLayout" Target="../slideLayouts/slideLayout5.xml"/><Relationship Id="rId9" Type="http://schemas.openxmlformats.org/officeDocument/2006/relationships/slideLayout" Target="../slideLayouts/slideLayout4.xml"/><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8"/>
          <p:cNvPicPr preferRelativeResize="0"/>
          <p:nvPr/>
        </p:nvPicPr>
        <p:blipFill rotWithShape="1">
          <a:blip r:embed="rId1">
            <a:alphaModFix/>
          </a:blip>
          <a:srcRect b="0" l="0" r="0" t="0"/>
          <a:stretch/>
        </p:blipFill>
        <p:spPr>
          <a:xfrm>
            <a:off x="0" y="0"/>
            <a:ext cx="9144000" cy="6858000"/>
          </a:xfrm>
          <a:prstGeom prst="rect">
            <a:avLst/>
          </a:prstGeom>
          <a:noFill/>
          <a:ln>
            <a:noFill/>
          </a:ln>
        </p:spPr>
      </p:pic>
      <p:pic>
        <p:nvPicPr>
          <p:cNvPr id="7" name="Google Shape;7;p28"/>
          <p:cNvPicPr preferRelativeResize="0"/>
          <p:nvPr/>
        </p:nvPicPr>
        <p:blipFill rotWithShape="1">
          <a:blip r:embed="rId2">
            <a:alphaModFix/>
          </a:blip>
          <a:srcRect b="0" l="0" r="0" t="0"/>
          <a:stretch/>
        </p:blipFill>
        <p:spPr>
          <a:xfrm>
            <a:off x="0" y="1255"/>
            <a:ext cx="9144000" cy="1026159"/>
          </a:xfrm>
          <a:prstGeom prst="rect">
            <a:avLst/>
          </a:prstGeom>
          <a:noFill/>
          <a:ln>
            <a:noFill/>
          </a:ln>
        </p:spPr>
      </p:pic>
      <p:pic>
        <p:nvPicPr>
          <p:cNvPr id="8" name="Google Shape;8;p28"/>
          <p:cNvPicPr preferRelativeResize="0"/>
          <p:nvPr/>
        </p:nvPicPr>
        <p:blipFill rotWithShape="1">
          <a:blip r:embed="rId3">
            <a:alphaModFix/>
          </a:blip>
          <a:srcRect b="0" l="0" r="0" t="0"/>
          <a:stretch/>
        </p:blipFill>
        <p:spPr>
          <a:xfrm>
            <a:off x="4398834" y="0"/>
            <a:ext cx="4745165" cy="600064"/>
          </a:xfrm>
          <a:prstGeom prst="rect">
            <a:avLst/>
          </a:prstGeom>
          <a:noFill/>
          <a:ln>
            <a:noFill/>
          </a:ln>
        </p:spPr>
      </p:pic>
      <p:pic>
        <p:nvPicPr>
          <p:cNvPr id="9" name="Google Shape;9;p28"/>
          <p:cNvPicPr preferRelativeResize="0"/>
          <p:nvPr/>
        </p:nvPicPr>
        <p:blipFill rotWithShape="1">
          <a:blip r:embed="rId4">
            <a:alphaModFix/>
          </a:blip>
          <a:srcRect b="0" l="0" r="0" t="0"/>
          <a:stretch/>
        </p:blipFill>
        <p:spPr>
          <a:xfrm>
            <a:off x="0" y="0"/>
            <a:ext cx="9087904" cy="1020572"/>
          </a:xfrm>
          <a:prstGeom prst="rect">
            <a:avLst/>
          </a:prstGeom>
          <a:noFill/>
          <a:ln>
            <a:noFill/>
          </a:ln>
        </p:spPr>
      </p:pic>
      <p:pic>
        <p:nvPicPr>
          <p:cNvPr id="10" name="Google Shape;10;p28"/>
          <p:cNvPicPr preferRelativeResize="0"/>
          <p:nvPr/>
        </p:nvPicPr>
        <p:blipFill rotWithShape="1">
          <a:blip r:embed="rId5">
            <a:alphaModFix/>
          </a:blip>
          <a:srcRect b="0" l="0" r="0" t="0"/>
          <a:stretch/>
        </p:blipFill>
        <p:spPr>
          <a:xfrm>
            <a:off x="-822" y="52323"/>
            <a:ext cx="9145584" cy="901953"/>
          </a:xfrm>
          <a:prstGeom prst="rect">
            <a:avLst/>
          </a:prstGeom>
          <a:noFill/>
          <a:ln>
            <a:noFill/>
          </a:ln>
        </p:spPr>
      </p:pic>
      <p:sp>
        <p:nvSpPr>
          <p:cNvPr id="11" name="Google Shape;11;p28"/>
          <p:cNvSpPr txBox="1"/>
          <p:nvPr>
            <p:ph type="title"/>
          </p:nvPr>
        </p:nvSpPr>
        <p:spPr>
          <a:xfrm>
            <a:off x="-12700" y="413461"/>
            <a:ext cx="3218815" cy="51244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200" u="none" cap="none" strike="noStrike">
                <a:solidFill>
                  <a:srgbClr val="5FF3C9"/>
                </a:solidFill>
                <a:latin typeface="Constantia"/>
                <a:ea typeface="Constantia"/>
                <a:cs typeface="Constantia"/>
                <a:sym typeface="Constant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8"/>
          <p:cNvSpPr txBox="1"/>
          <p:nvPr>
            <p:ph idx="1" type="body"/>
          </p:nvPr>
        </p:nvSpPr>
        <p:spPr>
          <a:xfrm>
            <a:off x="457200" y="1577340"/>
            <a:ext cx="8229600" cy="452628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2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8.jpg"/><Relationship Id="rId5"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
          <p:cNvSpPr txBox="1"/>
          <p:nvPr>
            <p:ph type="title"/>
          </p:nvPr>
        </p:nvSpPr>
        <p:spPr>
          <a:xfrm>
            <a:off x="2209800" y="3220288"/>
            <a:ext cx="5332984" cy="84382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fr-FR" sz="5400">
                <a:solidFill>
                  <a:srgbClr val="FFFF00"/>
                </a:solidFill>
              </a:rPr>
              <a:t>Graph Coloring</a:t>
            </a:r>
            <a:endParaRPr sz="5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12700" y="485343"/>
            <a:ext cx="3021965"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solidFill>
                  <a:srgbClr val="93F7DC"/>
                </a:solidFill>
              </a:rPr>
              <a:t>1 Introduction</a:t>
            </a:r>
            <a:endParaRPr/>
          </a:p>
        </p:txBody>
      </p:sp>
      <p:sp>
        <p:nvSpPr>
          <p:cNvPr id="54" name="Google Shape;54;p2"/>
          <p:cNvSpPr txBox="1"/>
          <p:nvPr/>
        </p:nvSpPr>
        <p:spPr>
          <a:xfrm>
            <a:off x="-12700" y="1064716"/>
            <a:ext cx="9121140" cy="5429692"/>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fr-FR" sz="3200">
                <a:solidFill>
                  <a:schemeClr val="lt1"/>
                </a:solidFill>
              </a:rPr>
              <a:t>Graph coloring problems arise in many contexts. One example is the scheduling of university exam sessions. If V represents the set of courses and an edge connects two courses that have at least one student in common, the chromatic number is the minimum number of periods required to schedule exams so that every student can take all their exams. Another well-known example is the coloring of countries on a geographical map, such that two neighboring countries, i.e., countries sharing a common border, are colored differently.</a:t>
            </a:r>
            <a:endParaRPr sz="3000">
              <a:solidFill>
                <a:schemeClr val="lt1"/>
              </a:solidFill>
              <a:latin typeface="Constantia"/>
              <a:ea typeface="Constantia"/>
              <a:cs typeface="Constantia"/>
              <a:sym typeface="Constant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nvSpPr>
        <p:spPr>
          <a:xfrm>
            <a:off x="-12700" y="386699"/>
            <a:ext cx="9124950" cy="5836212"/>
          </a:xfrm>
          <a:prstGeom prst="rect">
            <a:avLst/>
          </a:prstGeom>
          <a:noFill/>
          <a:ln>
            <a:noFill/>
          </a:ln>
        </p:spPr>
        <p:txBody>
          <a:bodyPr anchorCtr="0" anchor="t" bIns="0" lIns="0" spcFirstLastPara="1" rIns="0" wrap="square" tIns="110475">
            <a:spAutoFit/>
          </a:bodyPr>
          <a:lstStyle/>
          <a:p>
            <a:pPr indent="0" lvl="0" marL="12700" rtl="0" algn="just">
              <a:lnSpc>
                <a:spcPct val="100000"/>
              </a:lnSpc>
              <a:spcBef>
                <a:spcPts val="0"/>
              </a:spcBef>
              <a:spcAft>
                <a:spcPts val="0"/>
              </a:spcAft>
              <a:buNone/>
            </a:pPr>
            <a:r>
              <a:rPr b="1" lang="fr-FR" sz="3200">
                <a:solidFill>
                  <a:srgbClr val="93F7DC"/>
                </a:solidFill>
                <a:latin typeface="Constantia"/>
                <a:ea typeface="Constantia"/>
                <a:cs typeface="Constantia"/>
                <a:sym typeface="Constantia"/>
              </a:rPr>
              <a:t>2 </a:t>
            </a:r>
            <a:r>
              <a:rPr b="1" lang="fr-FR" sz="3200">
                <a:solidFill>
                  <a:srgbClr val="5FF3C9"/>
                </a:solidFill>
                <a:latin typeface="Constantia"/>
                <a:ea typeface="Constantia"/>
                <a:cs typeface="Constantia"/>
                <a:sym typeface="Constantia"/>
              </a:rPr>
              <a:t>Vertex Coloring</a:t>
            </a:r>
            <a:endParaRPr sz="3200">
              <a:latin typeface="Constantia"/>
              <a:ea typeface="Constantia"/>
              <a:cs typeface="Constantia"/>
              <a:sym typeface="Constantia"/>
            </a:endParaRPr>
          </a:p>
          <a:p>
            <a:pPr indent="0" lvl="0" marL="12700" marR="5080" rtl="0" algn="just">
              <a:lnSpc>
                <a:spcPct val="100000"/>
              </a:lnSpc>
              <a:spcBef>
                <a:spcPts val="770"/>
              </a:spcBef>
              <a:spcAft>
                <a:spcPts val="0"/>
              </a:spcAft>
              <a:buNone/>
            </a:pPr>
            <a:r>
              <a:rPr lang="fr-FR" sz="3200"/>
              <a:t>A </a:t>
            </a:r>
            <a:r>
              <a:rPr b="1" lang="fr-FR" sz="3200">
                <a:solidFill>
                  <a:srgbClr val="FFC000"/>
                </a:solidFill>
                <a:latin typeface="Constantia"/>
                <a:ea typeface="Constantia"/>
                <a:cs typeface="Constantia"/>
                <a:sym typeface="Constantia"/>
              </a:rPr>
              <a:t>vertex coloring </a:t>
            </a:r>
            <a:r>
              <a:rPr lang="fr-FR" sz="3200"/>
              <a:t>of a graph G is an assignment of colors to the vertices such that the two endpoints of each edge have different colors. The goal is often to determine the coloring that uses the fewest possible colors.</a:t>
            </a:r>
            <a:endParaRPr/>
          </a:p>
          <a:p>
            <a:pPr indent="0" lvl="0" marL="12700" marR="5080" rtl="0" algn="just">
              <a:lnSpc>
                <a:spcPct val="100000"/>
              </a:lnSpc>
              <a:spcBef>
                <a:spcPts val="770"/>
              </a:spcBef>
              <a:spcAft>
                <a:spcPts val="0"/>
              </a:spcAft>
              <a:buNone/>
            </a:pPr>
            <a:r>
              <a:rPr lang="fr-FR" sz="3200"/>
              <a:t>The </a:t>
            </a:r>
            <a:r>
              <a:rPr b="1" lang="fr-FR" sz="3200">
                <a:solidFill>
                  <a:srgbClr val="FFC000"/>
                </a:solidFill>
                <a:latin typeface="Constantia"/>
                <a:ea typeface="Constantia"/>
                <a:cs typeface="Constantia"/>
                <a:sym typeface="Constantia"/>
              </a:rPr>
              <a:t>chromatic number </a:t>
            </a:r>
            <a:r>
              <a:rPr lang="fr-FR" sz="3200"/>
              <a:t>of a graph G, denoted </a:t>
            </a:r>
            <a:r>
              <a:rPr b="1" lang="fr-FR" sz="3200">
                <a:solidFill>
                  <a:srgbClr val="FFC000"/>
                </a:solidFill>
                <a:latin typeface="Constantia"/>
                <a:ea typeface="Constantia"/>
                <a:cs typeface="Constantia"/>
                <a:sym typeface="Constantia"/>
              </a:rPr>
              <a:t>χ(G)</a:t>
            </a:r>
            <a:r>
              <a:rPr lang="fr-FR" sz="3200"/>
              <a:t>, refers to the minimum number of colors required to color its vertices.</a:t>
            </a:r>
            <a:endParaRPr sz="3200">
              <a:latin typeface="Constantia"/>
              <a:ea typeface="Constantia"/>
              <a:cs typeface="Constantia"/>
              <a:sym typeface="Constantia"/>
            </a:endParaRPr>
          </a:p>
          <a:p>
            <a:pPr indent="0" lvl="0" marL="12700" marR="17145" rtl="0" algn="just">
              <a:lnSpc>
                <a:spcPct val="100000"/>
              </a:lnSpc>
              <a:spcBef>
                <a:spcPts val="770"/>
              </a:spcBef>
              <a:spcAft>
                <a:spcPts val="0"/>
              </a:spcAft>
              <a:buNone/>
            </a:pPr>
            <a:r>
              <a:rPr lang="fr-FR" sz="3200"/>
              <a:t>A graph is said to be </a:t>
            </a:r>
            <a:r>
              <a:rPr b="1" lang="fr-FR" sz="3200">
                <a:solidFill>
                  <a:srgbClr val="FFC000"/>
                </a:solidFill>
                <a:latin typeface="Constantia"/>
                <a:ea typeface="Constantia"/>
                <a:cs typeface="Constantia"/>
                <a:sym typeface="Constantia"/>
              </a:rPr>
              <a:t>p-chromatic</a:t>
            </a:r>
            <a:r>
              <a:rPr lang="fr-FR" sz="3200"/>
              <a:t> if its vertices can be colored with exactly p colors.</a:t>
            </a:r>
            <a:endParaRPr sz="3000">
              <a:latin typeface="Constantia"/>
              <a:ea typeface="Constantia"/>
              <a:cs typeface="Constantia"/>
              <a:sym typeface="Constant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4"/>
          <p:cNvSpPr txBox="1"/>
          <p:nvPr/>
        </p:nvSpPr>
        <p:spPr>
          <a:xfrm>
            <a:off x="-12700" y="314439"/>
            <a:ext cx="9004300" cy="2061462"/>
          </a:xfrm>
          <a:prstGeom prst="rect">
            <a:avLst/>
          </a:prstGeom>
          <a:noFill/>
          <a:ln>
            <a:noFill/>
          </a:ln>
        </p:spPr>
        <p:txBody>
          <a:bodyPr anchorCtr="0" anchor="t" bIns="0" lIns="0" spcFirstLastPara="1" rIns="0" wrap="square" tIns="111125">
            <a:spAutoFit/>
          </a:bodyPr>
          <a:lstStyle/>
          <a:p>
            <a:pPr indent="0" lvl="0" marL="12700" rtl="0" algn="l">
              <a:lnSpc>
                <a:spcPct val="100000"/>
              </a:lnSpc>
              <a:spcBef>
                <a:spcPts val="0"/>
              </a:spcBef>
              <a:spcAft>
                <a:spcPts val="0"/>
              </a:spcAft>
              <a:buNone/>
            </a:pPr>
            <a:r>
              <a:rPr b="1" lang="fr-FR" sz="3200">
                <a:solidFill>
                  <a:srgbClr val="5FF3C9"/>
                </a:solidFill>
                <a:latin typeface="Constantia"/>
                <a:ea typeface="Constantia"/>
                <a:cs typeface="Constantia"/>
                <a:sym typeface="Constantia"/>
              </a:rPr>
              <a:t>Example :</a:t>
            </a:r>
            <a:endParaRPr sz="3200">
              <a:latin typeface="Constantia"/>
              <a:ea typeface="Constantia"/>
              <a:cs typeface="Constantia"/>
              <a:sym typeface="Constantia"/>
            </a:endParaRPr>
          </a:p>
          <a:p>
            <a:pPr indent="0" lvl="0" marL="12700" marR="5080" rtl="0" algn="just">
              <a:lnSpc>
                <a:spcPct val="100000"/>
              </a:lnSpc>
              <a:spcBef>
                <a:spcPts val="770"/>
              </a:spcBef>
              <a:spcAft>
                <a:spcPts val="0"/>
              </a:spcAft>
              <a:buNone/>
            </a:pPr>
            <a:r>
              <a:rPr lang="fr-FR" sz="2800"/>
              <a:t>Achieving optimal time management is a significant challenge, as it requires strict organization, careful planning, and the ability to prioritize tasks effectively</a:t>
            </a:r>
            <a:r>
              <a:rPr lang="fr-FR" sz="3200"/>
              <a:t>.</a:t>
            </a:r>
            <a:endParaRPr sz="3200">
              <a:latin typeface="Constantia"/>
              <a:ea typeface="Constantia"/>
              <a:cs typeface="Constantia"/>
              <a:sym typeface="Constantia"/>
            </a:endParaRPr>
          </a:p>
        </p:txBody>
      </p:sp>
      <p:pic>
        <p:nvPicPr>
          <p:cNvPr id="65" name="Google Shape;65;p4"/>
          <p:cNvPicPr preferRelativeResize="0"/>
          <p:nvPr/>
        </p:nvPicPr>
        <p:blipFill rotWithShape="1">
          <a:blip r:embed="rId3">
            <a:alphaModFix/>
          </a:blip>
          <a:srcRect b="0" l="0" r="0" t="0"/>
          <a:stretch/>
        </p:blipFill>
        <p:spPr>
          <a:xfrm>
            <a:off x="252984" y="2743200"/>
            <a:ext cx="8479536" cy="39258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5"/>
          <p:cNvSpPr txBox="1"/>
          <p:nvPr/>
        </p:nvSpPr>
        <p:spPr>
          <a:xfrm>
            <a:off x="-12700" y="386699"/>
            <a:ext cx="9120505" cy="4748735"/>
          </a:xfrm>
          <a:prstGeom prst="rect">
            <a:avLst/>
          </a:prstGeom>
          <a:noFill/>
          <a:ln>
            <a:noFill/>
          </a:ln>
        </p:spPr>
        <p:txBody>
          <a:bodyPr anchorCtr="0" anchor="t" bIns="0" lIns="0" spcFirstLastPara="1" rIns="0" wrap="square" tIns="110475">
            <a:spAutoFit/>
          </a:bodyPr>
          <a:lstStyle/>
          <a:p>
            <a:pPr indent="0" lvl="0" marL="12700" rtl="0" algn="just">
              <a:lnSpc>
                <a:spcPct val="100000"/>
              </a:lnSpc>
              <a:spcBef>
                <a:spcPts val="0"/>
              </a:spcBef>
              <a:spcAft>
                <a:spcPts val="0"/>
              </a:spcAft>
              <a:buNone/>
            </a:pPr>
            <a:r>
              <a:rPr b="1" lang="fr-FR" sz="3200">
                <a:solidFill>
                  <a:srgbClr val="93F7DC"/>
                </a:solidFill>
                <a:latin typeface="Constantia"/>
                <a:ea typeface="Constantia"/>
                <a:cs typeface="Constantia"/>
                <a:sym typeface="Constantia"/>
              </a:rPr>
              <a:t>3 </a:t>
            </a:r>
            <a:r>
              <a:rPr b="1" lang="fr-FR" sz="3200">
                <a:solidFill>
                  <a:srgbClr val="5FF3C9"/>
                </a:solidFill>
                <a:latin typeface="Constantia"/>
                <a:ea typeface="Constantia"/>
                <a:cs typeface="Constantia"/>
                <a:sym typeface="Constantia"/>
              </a:rPr>
              <a:t>Edge Coloring</a:t>
            </a:r>
            <a:endParaRPr sz="3200">
              <a:latin typeface="Constantia"/>
              <a:ea typeface="Constantia"/>
              <a:cs typeface="Constantia"/>
              <a:sym typeface="Constantia"/>
            </a:endParaRPr>
          </a:p>
          <a:p>
            <a:pPr indent="0" lvl="0" marL="12700" marR="6350" rtl="0" algn="just">
              <a:lnSpc>
                <a:spcPct val="100000"/>
              </a:lnSpc>
              <a:spcBef>
                <a:spcPts val="770"/>
              </a:spcBef>
              <a:spcAft>
                <a:spcPts val="0"/>
              </a:spcAft>
              <a:buNone/>
            </a:pPr>
            <a:r>
              <a:rPr lang="fr-FR" sz="3200"/>
              <a:t>An "edge coloring" of a graph G is an assignment of colors to the edges such that any two edges sharing a common vertex are assigned different colors. The goal is usually to determine a coloring that uses the fewest possible colors. </a:t>
            </a:r>
            <a:endParaRPr/>
          </a:p>
          <a:p>
            <a:pPr indent="0" lvl="0" marL="12700" marR="6350" rtl="0" algn="just">
              <a:lnSpc>
                <a:spcPct val="100000"/>
              </a:lnSpc>
              <a:spcBef>
                <a:spcPts val="770"/>
              </a:spcBef>
              <a:spcAft>
                <a:spcPts val="0"/>
              </a:spcAft>
              <a:buNone/>
            </a:pPr>
            <a:r>
              <a:rPr lang="fr-FR" sz="3200"/>
              <a:t>The minimum number of colors required to color the edges of a graph G is called the "</a:t>
            </a:r>
            <a:r>
              <a:rPr b="1" lang="fr-FR" sz="3200">
                <a:solidFill>
                  <a:srgbClr val="FFC000"/>
                </a:solidFill>
                <a:latin typeface="Constantia"/>
                <a:ea typeface="Constantia"/>
                <a:cs typeface="Constantia"/>
                <a:sym typeface="Constantia"/>
              </a:rPr>
              <a:t>chromatic index</a:t>
            </a:r>
            <a:r>
              <a:rPr lang="fr-FR" sz="3200"/>
              <a:t>" of G and is denoted </a:t>
            </a:r>
            <a:r>
              <a:rPr b="1" lang="fr-FR" sz="3200">
                <a:solidFill>
                  <a:srgbClr val="FFC000"/>
                </a:solidFill>
                <a:latin typeface="Constantia"/>
                <a:ea typeface="Constantia"/>
                <a:cs typeface="Constantia"/>
                <a:sym typeface="Constantia"/>
              </a:rPr>
              <a:t>χ′(G).</a:t>
            </a:r>
            <a:endParaRPr sz="3200">
              <a:latin typeface="Constantia"/>
              <a:ea typeface="Constantia"/>
              <a:cs typeface="Constantia"/>
              <a:sym typeface="Constant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6"/>
          <p:cNvSpPr txBox="1"/>
          <p:nvPr>
            <p:ph type="title"/>
          </p:nvPr>
        </p:nvSpPr>
        <p:spPr>
          <a:xfrm>
            <a:off x="-12700" y="413461"/>
            <a:ext cx="3067685"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solidFill>
                  <a:srgbClr val="93F7DC"/>
                </a:solidFill>
              </a:rPr>
              <a:t>4 </a:t>
            </a:r>
            <a:r>
              <a:rPr lang="fr-FR"/>
              <a:t>Propositions</a:t>
            </a:r>
            <a:endParaRPr/>
          </a:p>
        </p:txBody>
      </p:sp>
      <p:sp>
        <p:nvSpPr>
          <p:cNvPr id="76" name="Google Shape;76;p6"/>
          <p:cNvSpPr txBox="1"/>
          <p:nvPr/>
        </p:nvSpPr>
        <p:spPr>
          <a:xfrm>
            <a:off x="-12700" y="903295"/>
            <a:ext cx="9121140" cy="4070602"/>
          </a:xfrm>
          <a:prstGeom prst="rect">
            <a:avLst/>
          </a:prstGeom>
          <a:noFill/>
          <a:ln>
            <a:noFill/>
          </a:ln>
        </p:spPr>
        <p:txBody>
          <a:bodyPr anchorCtr="0" anchor="t" bIns="0" lIns="0" spcFirstLastPara="1" rIns="0" wrap="square" tIns="54600">
            <a:spAutoFit/>
          </a:bodyPr>
          <a:lstStyle/>
          <a:p>
            <a:pPr indent="0" lvl="0" marL="12700" marR="19685" rtl="0" algn="just">
              <a:lnSpc>
                <a:spcPct val="110000"/>
              </a:lnSpc>
              <a:spcBef>
                <a:spcPts val="0"/>
              </a:spcBef>
              <a:spcAft>
                <a:spcPts val="0"/>
              </a:spcAft>
              <a:buNone/>
            </a:pPr>
            <a:r>
              <a:rPr b="1" lang="fr-FR" sz="2800">
                <a:solidFill>
                  <a:srgbClr val="FFC000"/>
                </a:solidFill>
                <a:latin typeface="Constantia"/>
                <a:ea typeface="Constantia"/>
                <a:cs typeface="Constantia"/>
                <a:sym typeface="Constantia"/>
              </a:rPr>
              <a:t>Property 1: </a:t>
            </a:r>
            <a:r>
              <a:rPr lang="fr-FR" sz="2800"/>
              <a:t>The chromatic number of the complete graph </a:t>
            </a:r>
            <a:r>
              <a:rPr b="1" lang="fr-FR" sz="2800">
                <a:solidFill>
                  <a:srgbClr val="FF0000"/>
                </a:solidFill>
                <a:latin typeface="Constantia"/>
                <a:ea typeface="Constantia"/>
                <a:cs typeface="Constantia"/>
                <a:sym typeface="Constantia"/>
              </a:rPr>
              <a:t>Kn</a:t>
            </a:r>
            <a:r>
              <a:rPr lang="fr-FR" sz="2800"/>
              <a:t>​ is </a:t>
            </a:r>
            <a:r>
              <a:rPr b="1" lang="fr-FR" sz="2800">
                <a:solidFill>
                  <a:srgbClr val="FF0000"/>
                </a:solidFill>
                <a:latin typeface="Constantia"/>
                <a:ea typeface="Constantia"/>
                <a:cs typeface="Constantia"/>
                <a:sym typeface="Constantia"/>
              </a:rPr>
              <a:t>n</a:t>
            </a:r>
            <a:r>
              <a:rPr lang="fr-FR" sz="2800"/>
              <a:t>.</a:t>
            </a:r>
            <a:endParaRPr/>
          </a:p>
          <a:p>
            <a:pPr indent="0" lvl="0" marL="12700" marR="19685" rtl="0" algn="just">
              <a:lnSpc>
                <a:spcPct val="110000"/>
              </a:lnSpc>
              <a:spcBef>
                <a:spcPts val="430"/>
              </a:spcBef>
              <a:spcAft>
                <a:spcPts val="0"/>
              </a:spcAft>
              <a:buNone/>
            </a:pPr>
            <a:r>
              <a:rPr b="1" lang="fr-FR" sz="2800">
                <a:solidFill>
                  <a:srgbClr val="FFC000"/>
                </a:solidFill>
                <a:latin typeface="Constantia"/>
                <a:ea typeface="Constantia"/>
                <a:cs typeface="Constantia"/>
                <a:sym typeface="Constantia"/>
              </a:rPr>
              <a:t>Property 2:  </a:t>
            </a:r>
            <a:r>
              <a:rPr lang="fr-FR" sz="2800"/>
              <a:t>If a graph G contains a complete subgraph of order n, then the chromatic number of G is is </a:t>
            </a:r>
            <a:r>
              <a:rPr b="1" lang="fr-FR" sz="2800">
                <a:solidFill>
                  <a:srgbClr val="FF0000"/>
                </a:solidFill>
                <a:latin typeface="Constantia"/>
                <a:ea typeface="Constantia"/>
                <a:cs typeface="Constantia"/>
                <a:sym typeface="Constantia"/>
              </a:rPr>
              <a:t>at least n</a:t>
            </a:r>
            <a:endParaRPr b="1" sz="2800">
              <a:solidFill>
                <a:srgbClr val="FF0000"/>
              </a:solidFill>
              <a:latin typeface="Constantia"/>
              <a:ea typeface="Constantia"/>
              <a:cs typeface="Constantia"/>
              <a:sym typeface="Constantia"/>
            </a:endParaRPr>
          </a:p>
          <a:p>
            <a:pPr indent="0" lvl="0" marL="12700" marR="5080" rtl="0" algn="just">
              <a:lnSpc>
                <a:spcPct val="120100"/>
              </a:lnSpc>
              <a:spcBef>
                <a:spcPts val="0"/>
              </a:spcBef>
              <a:spcAft>
                <a:spcPts val="0"/>
              </a:spcAft>
              <a:buNone/>
            </a:pPr>
            <a:r>
              <a:rPr b="1" lang="fr-FR" sz="2800">
                <a:solidFill>
                  <a:srgbClr val="FFC000"/>
                </a:solidFill>
                <a:latin typeface="Constantia"/>
                <a:ea typeface="Constantia"/>
                <a:cs typeface="Constantia"/>
                <a:sym typeface="Constantia"/>
              </a:rPr>
              <a:t>Propriété 3: </a:t>
            </a:r>
            <a:r>
              <a:rPr lang="fr-FR" sz="2800"/>
              <a:t>The chromatic number of a graph is </a:t>
            </a:r>
            <a:r>
              <a:rPr b="1" lang="fr-FR" sz="2800">
                <a:solidFill>
                  <a:srgbClr val="FF0000"/>
                </a:solidFill>
                <a:latin typeface="Constantia"/>
                <a:ea typeface="Constantia"/>
                <a:cs typeface="Constantia"/>
                <a:sym typeface="Constantia"/>
              </a:rPr>
              <a:t>at least the maximum degree of its vertices</a:t>
            </a:r>
            <a:r>
              <a:rPr lang="fr-FR" sz="2800">
                <a:solidFill>
                  <a:srgbClr val="FFFFFF"/>
                </a:solidFill>
                <a:latin typeface="Constantia"/>
                <a:ea typeface="Constantia"/>
                <a:cs typeface="Constantia"/>
                <a:sym typeface="Constantia"/>
              </a:rPr>
              <a:t>. </a:t>
            </a:r>
            <a:endParaRPr sz="2800">
              <a:solidFill>
                <a:srgbClr val="FFFFFF"/>
              </a:solidFill>
              <a:latin typeface="Constantia"/>
              <a:ea typeface="Constantia"/>
              <a:cs typeface="Constantia"/>
              <a:sym typeface="Constantia"/>
            </a:endParaRPr>
          </a:p>
          <a:p>
            <a:pPr indent="0" lvl="0" marL="12700" marR="5080" rtl="0" algn="just">
              <a:lnSpc>
                <a:spcPct val="120100"/>
              </a:lnSpc>
              <a:spcBef>
                <a:spcPts val="0"/>
              </a:spcBef>
              <a:spcAft>
                <a:spcPts val="0"/>
              </a:spcAft>
              <a:buNone/>
            </a:pPr>
            <a:r>
              <a:rPr b="1" lang="fr-FR" sz="2800">
                <a:solidFill>
                  <a:srgbClr val="FFC000"/>
                </a:solidFill>
                <a:latin typeface="Constantia"/>
                <a:ea typeface="Constantia"/>
                <a:cs typeface="Constantia"/>
                <a:sym typeface="Constantia"/>
              </a:rPr>
              <a:t>Propriété 4: </a:t>
            </a:r>
            <a:r>
              <a:rPr lang="fr-FR" sz="2800"/>
              <a:t>If a graph G contains a clique of size k, then the chromatic number of G is </a:t>
            </a:r>
            <a:r>
              <a:rPr b="1" lang="fr-FR" sz="2800">
                <a:solidFill>
                  <a:srgbClr val="FF0000"/>
                </a:solidFill>
                <a:latin typeface="Constantia"/>
                <a:ea typeface="Constantia"/>
                <a:cs typeface="Constantia"/>
                <a:sym typeface="Constantia"/>
              </a:rPr>
              <a:t>at least k.</a:t>
            </a:r>
            <a:endParaRPr sz="2800">
              <a:latin typeface="Constantia"/>
              <a:ea typeface="Constantia"/>
              <a:cs typeface="Constantia"/>
              <a:sym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ph type="title"/>
          </p:nvPr>
        </p:nvSpPr>
        <p:spPr>
          <a:xfrm>
            <a:off x="-12700" y="413461"/>
            <a:ext cx="3218815" cy="49244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fr-FR"/>
              <a:t>4. Propositions</a:t>
            </a:r>
            <a:endParaRPr/>
          </a:p>
        </p:txBody>
      </p:sp>
      <p:sp>
        <p:nvSpPr>
          <p:cNvPr id="82" name="Google Shape;82;p7"/>
          <p:cNvSpPr txBox="1"/>
          <p:nvPr>
            <p:ph idx="1" type="body"/>
          </p:nvPr>
        </p:nvSpPr>
        <p:spPr>
          <a:xfrm>
            <a:off x="457200" y="1577340"/>
            <a:ext cx="8229600" cy="519629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fr-FR" sz="2800">
                <a:solidFill>
                  <a:srgbClr val="FFC000"/>
                </a:solidFill>
                <a:latin typeface="Constantia"/>
                <a:ea typeface="Constantia"/>
                <a:cs typeface="Constantia"/>
                <a:sym typeface="Constantia"/>
              </a:rPr>
              <a:t>Brooks‘ theorem : </a:t>
            </a:r>
            <a:r>
              <a:rPr lang="fr-FR" sz="2800"/>
              <a:t>Let G be a connected, undirected graph, and let r be the maximum degree of any vertex in G. Then the chromatic number </a:t>
            </a:r>
            <a:r>
              <a:rPr b="1" lang="fr-FR" sz="2800">
                <a:solidFill>
                  <a:srgbClr val="FFC000"/>
                </a:solidFill>
                <a:latin typeface="Constantia"/>
                <a:ea typeface="Constantia"/>
                <a:cs typeface="Constantia"/>
                <a:sym typeface="Constantia"/>
              </a:rPr>
              <a:t>χ(G). </a:t>
            </a:r>
            <a:r>
              <a:rPr lang="fr-FR" sz="2800"/>
              <a:t>of G satisfies the following conditions:</a:t>
            </a:r>
            <a:endParaRPr/>
          </a:p>
          <a:p>
            <a:pPr indent="0" lvl="0" marL="0" rtl="0" algn="l">
              <a:spcBef>
                <a:spcPts val="0"/>
              </a:spcBef>
              <a:spcAft>
                <a:spcPts val="0"/>
              </a:spcAft>
              <a:buNone/>
            </a:pPr>
            <a:r>
              <a:rPr lang="fr-FR" sz="2800"/>
              <a:t>If G is neither a complete graph nor an odd cycle, then </a:t>
            </a:r>
            <a:r>
              <a:rPr b="1" lang="fr-FR" sz="2800">
                <a:solidFill>
                  <a:srgbClr val="FFC000"/>
                </a:solidFill>
                <a:latin typeface="Constantia"/>
                <a:ea typeface="Constantia"/>
                <a:cs typeface="Constantia"/>
                <a:sym typeface="Constantia"/>
              </a:rPr>
              <a:t>χ(G) ≤ r.</a:t>
            </a:r>
            <a:endParaRPr/>
          </a:p>
          <a:p>
            <a:pPr indent="0" lvl="0" marL="0" rtl="0" algn="l">
              <a:spcBef>
                <a:spcPts val="0"/>
              </a:spcBef>
              <a:spcAft>
                <a:spcPts val="0"/>
              </a:spcAft>
              <a:buNone/>
            </a:pPr>
            <a:r>
              <a:rPr lang="fr-FR" sz="2800"/>
              <a:t>If G is a complete graph or an odd cycle, then </a:t>
            </a:r>
            <a:r>
              <a:rPr b="1" lang="fr-FR" sz="2800">
                <a:solidFill>
                  <a:srgbClr val="FFC000"/>
                </a:solidFill>
                <a:latin typeface="Constantia"/>
                <a:ea typeface="Constantia"/>
                <a:cs typeface="Constantia"/>
                <a:sym typeface="Constantia"/>
              </a:rPr>
              <a:t>χ(G) =r+1</a:t>
            </a:r>
            <a:r>
              <a:rPr lang="fr-FR" sz="2800"/>
              <a:t>.</a:t>
            </a:r>
            <a:endParaRPr/>
          </a:p>
          <a:p>
            <a:pPr indent="0" lvl="0" marL="12700" marR="5080" rtl="0" algn="l">
              <a:lnSpc>
                <a:spcPct val="100000"/>
              </a:lnSpc>
              <a:spcBef>
                <a:spcPts val="670"/>
              </a:spcBef>
              <a:spcAft>
                <a:spcPts val="0"/>
              </a:spcAft>
              <a:buNone/>
            </a:pPr>
            <a:r>
              <a:t/>
            </a:r>
            <a:endParaRPr sz="2800">
              <a:latin typeface="Constantia"/>
              <a:ea typeface="Constantia"/>
              <a:cs typeface="Constantia"/>
              <a:sym typeface="Constantia"/>
            </a:endParaRPr>
          </a:p>
          <a:p>
            <a:pPr indent="0" lvl="0" marL="12700" marR="7620" rtl="0" algn="l">
              <a:lnSpc>
                <a:spcPct val="100000"/>
              </a:lnSpc>
              <a:spcBef>
                <a:spcPts val="675"/>
              </a:spcBef>
              <a:spcAft>
                <a:spcPts val="0"/>
              </a:spcAft>
              <a:buNone/>
            </a:pPr>
            <a:r>
              <a:rPr b="1" lang="fr-FR" sz="2800">
                <a:solidFill>
                  <a:srgbClr val="FFC000"/>
                </a:solidFill>
                <a:latin typeface="Constantia"/>
                <a:ea typeface="Constantia"/>
                <a:cs typeface="Constantia"/>
                <a:sym typeface="Constantia"/>
              </a:rPr>
              <a:t>Berge‘ theorem(1970)</a:t>
            </a:r>
            <a:r>
              <a:rPr lang="fr-FR" sz="2800">
                <a:solidFill>
                  <a:srgbClr val="FFFFFF"/>
                </a:solidFill>
                <a:latin typeface="Constantia"/>
                <a:ea typeface="Constantia"/>
                <a:cs typeface="Constantia"/>
                <a:sym typeface="Constantia"/>
              </a:rPr>
              <a:t>:	</a:t>
            </a:r>
            <a:r>
              <a:rPr lang="fr-FR" sz="2800"/>
              <a:t> The chromatic index of a bipartite graph G is equal to </a:t>
            </a:r>
            <a:r>
              <a:rPr b="1" lang="fr-FR" sz="2800">
                <a:solidFill>
                  <a:srgbClr val="FF0000"/>
                </a:solidFill>
                <a:latin typeface="Constantia"/>
                <a:ea typeface="Constantia"/>
                <a:cs typeface="Constantia"/>
                <a:sym typeface="Constantia"/>
              </a:rPr>
              <a:t>r</a:t>
            </a:r>
            <a:r>
              <a:rPr lang="fr-FR" sz="2800"/>
              <a:t>, where </a:t>
            </a:r>
            <a:r>
              <a:rPr b="1" lang="fr-FR" sz="2800">
                <a:solidFill>
                  <a:srgbClr val="FF0000"/>
                </a:solidFill>
                <a:latin typeface="Constantia"/>
                <a:ea typeface="Constantia"/>
                <a:cs typeface="Constantia"/>
                <a:sym typeface="Constantia"/>
              </a:rPr>
              <a:t>r</a:t>
            </a:r>
            <a:r>
              <a:rPr lang="fr-FR" sz="2800"/>
              <a:t> is the maximum degree of any vertex in the graph G</a:t>
            </a:r>
            <a:r>
              <a:rPr lang="fr-FR" sz="2800">
                <a:solidFill>
                  <a:srgbClr val="FFFFFF"/>
                </a:solidFill>
                <a:latin typeface="Constantia"/>
                <a:ea typeface="Constantia"/>
                <a:cs typeface="Constantia"/>
                <a:sym typeface="Constantia"/>
              </a:rPr>
              <a:t>.</a:t>
            </a:r>
            <a:endParaRPr sz="2800">
              <a:latin typeface="Constantia"/>
              <a:ea typeface="Constantia"/>
              <a:cs typeface="Constantia"/>
              <a:sym typeface="Constantia"/>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8"/>
          <p:cNvSpPr txBox="1"/>
          <p:nvPr/>
        </p:nvSpPr>
        <p:spPr>
          <a:xfrm>
            <a:off x="-12700" y="322071"/>
            <a:ext cx="9122410" cy="5529718"/>
          </a:xfrm>
          <a:prstGeom prst="rect">
            <a:avLst/>
          </a:prstGeom>
          <a:noFill/>
          <a:ln>
            <a:noFill/>
          </a:ln>
        </p:spPr>
        <p:txBody>
          <a:bodyPr anchorCtr="0" anchor="t" bIns="0" lIns="0" spcFirstLastPara="1" rIns="0" wrap="square" tIns="104125">
            <a:spAutoFit/>
          </a:bodyPr>
          <a:lstStyle/>
          <a:p>
            <a:pPr indent="0" lvl="0" marL="12700" rtl="0" algn="ctr">
              <a:lnSpc>
                <a:spcPct val="100000"/>
              </a:lnSpc>
              <a:spcBef>
                <a:spcPts val="0"/>
              </a:spcBef>
              <a:spcAft>
                <a:spcPts val="0"/>
              </a:spcAft>
              <a:buNone/>
            </a:pPr>
            <a:r>
              <a:rPr b="1" lang="fr-FR" sz="3000">
                <a:solidFill>
                  <a:srgbClr val="FFFF00"/>
                </a:solidFill>
                <a:latin typeface="Constantia"/>
                <a:ea typeface="Constantia"/>
                <a:cs typeface="Constantia"/>
                <a:sym typeface="Constantia"/>
              </a:rPr>
              <a:t>Coloring Algorithms</a:t>
            </a:r>
            <a:endParaRPr b="1" sz="3000">
              <a:solidFill>
                <a:srgbClr val="FFFF00"/>
              </a:solidFill>
              <a:latin typeface="Constantia"/>
              <a:ea typeface="Constantia"/>
              <a:cs typeface="Constantia"/>
              <a:sym typeface="Constantia"/>
            </a:endParaRPr>
          </a:p>
          <a:p>
            <a:pPr indent="0" lvl="0" marL="12700" rtl="0" algn="just">
              <a:lnSpc>
                <a:spcPct val="100000"/>
              </a:lnSpc>
              <a:spcBef>
                <a:spcPts val="819"/>
              </a:spcBef>
              <a:spcAft>
                <a:spcPts val="0"/>
              </a:spcAft>
              <a:buNone/>
            </a:pPr>
            <a:r>
              <a:rPr b="1" lang="fr-FR" sz="3000">
                <a:solidFill>
                  <a:srgbClr val="5FF3C9"/>
                </a:solidFill>
                <a:latin typeface="Constantia"/>
                <a:ea typeface="Constantia"/>
                <a:cs typeface="Constantia"/>
                <a:sym typeface="Constantia"/>
              </a:rPr>
              <a:t>1 Greedy Algorithms</a:t>
            </a:r>
            <a:endParaRPr sz="3000">
              <a:latin typeface="Constantia"/>
              <a:ea typeface="Constantia"/>
              <a:cs typeface="Constantia"/>
              <a:sym typeface="Constantia"/>
            </a:endParaRPr>
          </a:p>
          <a:p>
            <a:pPr indent="0" lvl="0" marL="12700" marR="10160" rtl="0" algn="just">
              <a:lnSpc>
                <a:spcPct val="100000"/>
              </a:lnSpc>
              <a:spcBef>
                <a:spcPts val="725"/>
              </a:spcBef>
              <a:spcAft>
                <a:spcPts val="0"/>
              </a:spcAft>
              <a:buNone/>
            </a:pPr>
            <a:r>
              <a:rPr lang="fr-FR" sz="2800"/>
              <a:t>Greedy algorithms are commonly used to solve optimization problems. The principle of such algorithms is to iteratively choose locally optimal solutions with the aim of obtaining a globally optimal solution. In the case of graph coloring, this involves coloring the vertices one by one, assigning each vertex the smallest possible color that is not already used by any of its neighbors. The order in which the vertices are processed defines different variants of the algorithm. One method is to color the vertices in decreasing order of their degree.</a:t>
            </a:r>
            <a:endParaRPr sz="2800">
              <a:latin typeface="Constantia"/>
              <a:ea typeface="Constantia"/>
              <a:cs typeface="Constantia"/>
              <a:sym typeface="Constant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9"/>
          <p:cNvSpPr txBox="1"/>
          <p:nvPr/>
        </p:nvSpPr>
        <p:spPr>
          <a:xfrm>
            <a:off x="-12700" y="314438"/>
            <a:ext cx="9117330" cy="5939446"/>
          </a:xfrm>
          <a:prstGeom prst="rect">
            <a:avLst/>
          </a:prstGeom>
          <a:noFill/>
          <a:ln>
            <a:noFill/>
          </a:ln>
        </p:spPr>
        <p:txBody>
          <a:bodyPr anchorCtr="0" anchor="t" bIns="0" lIns="0" spcFirstLastPara="1" rIns="0" wrap="square" tIns="111125">
            <a:spAutoFit/>
          </a:bodyPr>
          <a:lstStyle/>
          <a:p>
            <a:pPr indent="-550545" lvl="1" marL="563245" rtl="0" algn="just">
              <a:lnSpc>
                <a:spcPct val="100000"/>
              </a:lnSpc>
              <a:spcBef>
                <a:spcPts val="0"/>
              </a:spcBef>
              <a:spcAft>
                <a:spcPts val="0"/>
              </a:spcAft>
              <a:buNone/>
            </a:pPr>
            <a:r>
              <a:rPr b="1" lang="fr-FR" sz="3200">
                <a:solidFill>
                  <a:srgbClr val="5FF3C9"/>
                </a:solidFill>
                <a:latin typeface="Constantia"/>
                <a:ea typeface="Constantia"/>
                <a:cs typeface="Constantia"/>
                <a:sym typeface="Constantia"/>
              </a:rPr>
              <a:t>2. Welsh-Powell greedy algorithm</a:t>
            </a:r>
            <a:endParaRPr b="1" sz="3200">
              <a:solidFill>
                <a:srgbClr val="5FF3C9"/>
              </a:solidFill>
              <a:latin typeface="Constantia"/>
              <a:ea typeface="Constantia"/>
              <a:cs typeface="Constantia"/>
              <a:sym typeface="Constantia"/>
            </a:endParaRPr>
          </a:p>
          <a:p>
            <a:pPr indent="-936625" lvl="2" marL="949325" rtl="0" algn="just">
              <a:lnSpc>
                <a:spcPct val="100000"/>
              </a:lnSpc>
              <a:spcBef>
                <a:spcPts val="770"/>
              </a:spcBef>
              <a:spcAft>
                <a:spcPts val="0"/>
              </a:spcAft>
              <a:buClr>
                <a:srgbClr val="FFC000"/>
              </a:buClr>
              <a:buSzPts val="3200"/>
              <a:buFont typeface="Constantia"/>
              <a:buAutoNum type="arabicPeriod"/>
            </a:pPr>
            <a:r>
              <a:rPr b="1" lang="fr-FR" sz="3200">
                <a:solidFill>
                  <a:srgbClr val="FFC000"/>
                </a:solidFill>
                <a:latin typeface="Constantia"/>
                <a:ea typeface="Constantia"/>
                <a:cs typeface="Constantia"/>
                <a:sym typeface="Constantia"/>
              </a:rPr>
              <a:t>Principe of the Welsh-Powell Algorithm:</a:t>
            </a:r>
            <a:endParaRPr b="1" sz="3200">
              <a:solidFill>
                <a:srgbClr val="FFC000"/>
              </a:solidFill>
              <a:latin typeface="Constantia"/>
              <a:ea typeface="Constantia"/>
              <a:cs typeface="Constantia"/>
              <a:sym typeface="Constantia"/>
            </a:endParaRPr>
          </a:p>
          <a:p>
            <a:pPr indent="-514350" lvl="0" marL="514350" rtl="0" algn="just">
              <a:spcBef>
                <a:spcPts val="0"/>
              </a:spcBef>
              <a:spcAft>
                <a:spcPts val="0"/>
              </a:spcAft>
              <a:buClr>
                <a:srgbClr val="FFC000"/>
              </a:buClr>
              <a:buSzPts val="2800"/>
              <a:buFont typeface="Calibri"/>
              <a:buAutoNum type="alphaLcPeriod"/>
            </a:pPr>
            <a:r>
              <a:rPr b="1" lang="fr-FR" sz="2800">
                <a:solidFill>
                  <a:srgbClr val="FFC000"/>
                </a:solidFill>
              </a:rPr>
              <a:t>Vertex Sorting</a:t>
            </a:r>
            <a:r>
              <a:rPr lang="fr-FR" sz="2800"/>
              <a:t>: The vertices of the graph are first sorted by </a:t>
            </a:r>
            <a:r>
              <a:rPr b="1" lang="fr-FR" sz="2800">
                <a:solidFill>
                  <a:srgbClr val="C00000"/>
                </a:solidFill>
              </a:rPr>
              <a:t>decreasing degree</a:t>
            </a:r>
            <a:r>
              <a:rPr lang="fr-FR" sz="2800"/>
              <a:t>. The idea is to start coloring the vertices with the highest number of neighbors, as these vertices are more constrained in their choice of color.</a:t>
            </a:r>
            <a:endParaRPr/>
          </a:p>
          <a:p>
            <a:pPr indent="-514350" lvl="0" marL="514350" rtl="0" algn="just">
              <a:spcBef>
                <a:spcPts val="0"/>
              </a:spcBef>
              <a:spcAft>
                <a:spcPts val="0"/>
              </a:spcAft>
              <a:buClr>
                <a:srgbClr val="FFC000"/>
              </a:buClr>
              <a:buSzPts val="2800"/>
              <a:buFont typeface="Calibri"/>
              <a:buAutoNum type="alphaLcPeriod"/>
            </a:pPr>
            <a:r>
              <a:rPr b="1" lang="fr-FR" sz="2800">
                <a:solidFill>
                  <a:srgbClr val="FFC000"/>
                </a:solidFill>
              </a:rPr>
              <a:t>Coloring</a:t>
            </a:r>
            <a:r>
              <a:rPr lang="fr-FR" sz="2800"/>
              <a:t>: After sorting, the algorithm assigns a color to each vertex. For each vertex, it chooses the </a:t>
            </a:r>
            <a:r>
              <a:rPr b="1" lang="fr-FR" sz="2800">
                <a:solidFill>
                  <a:srgbClr val="C00000"/>
                </a:solidFill>
              </a:rPr>
              <a:t>smallest color available</a:t>
            </a:r>
            <a:r>
              <a:rPr lang="fr-FR" sz="2800"/>
              <a:t>, i.e., a color that has not yet been assigned to any of its already colored neighbors.</a:t>
            </a:r>
            <a:endParaRPr/>
          </a:p>
          <a:p>
            <a:pPr indent="-514350" lvl="0" marL="514350" rtl="0" algn="just">
              <a:spcBef>
                <a:spcPts val="0"/>
              </a:spcBef>
              <a:spcAft>
                <a:spcPts val="0"/>
              </a:spcAft>
              <a:buClr>
                <a:srgbClr val="FFC000"/>
              </a:buClr>
              <a:buSzPts val="2800"/>
              <a:buFont typeface="Calibri"/>
              <a:buAutoNum type="alphaLcPeriod"/>
            </a:pPr>
            <a:r>
              <a:rPr b="1" lang="fr-FR" sz="2800">
                <a:solidFill>
                  <a:srgbClr val="FFC000"/>
                </a:solidFill>
              </a:rPr>
              <a:t>Repetition</a:t>
            </a:r>
            <a:r>
              <a:rPr lang="fr-FR" sz="2800"/>
              <a:t>: This process (</a:t>
            </a:r>
            <a:r>
              <a:rPr b="1" lang="fr-FR" sz="2800">
                <a:solidFill>
                  <a:srgbClr val="C00000"/>
                </a:solidFill>
              </a:rPr>
              <a:t>step b</a:t>
            </a:r>
            <a:r>
              <a:rPr lang="fr-FR" sz="2800"/>
              <a:t>) is repeated for all vertices in the graph until all vertices are colored.</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0"/>
          <p:cNvSpPr txBox="1"/>
          <p:nvPr>
            <p:ph type="title"/>
          </p:nvPr>
        </p:nvSpPr>
        <p:spPr>
          <a:xfrm>
            <a:off x="-12700" y="413461"/>
            <a:ext cx="7906384"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98" name="Google Shape;98;p10"/>
          <p:cNvSpPr txBox="1"/>
          <p:nvPr/>
        </p:nvSpPr>
        <p:spPr>
          <a:xfrm>
            <a:off x="-12700" y="900546"/>
            <a:ext cx="9123680" cy="5754139"/>
          </a:xfrm>
          <a:prstGeom prst="rect">
            <a:avLst/>
          </a:prstGeom>
          <a:noFill/>
          <a:ln>
            <a:noFill/>
          </a:ln>
        </p:spPr>
        <p:txBody>
          <a:bodyPr anchorCtr="0" anchor="t" bIns="0" lIns="0" spcFirstLastPara="1" rIns="0" wrap="square" tIns="11047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2 </a:t>
            </a:r>
            <a:r>
              <a:rPr b="1" lang="fr-FR" sz="3200">
                <a:solidFill>
                  <a:srgbClr val="FFC000"/>
                </a:solidFill>
              </a:rPr>
              <a:t>Algorithm Steps</a:t>
            </a:r>
            <a:r>
              <a:rPr lang="fr-FR" sz="3200">
                <a:solidFill>
                  <a:srgbClr val="FFC000"/>
                </a:solidFill>
              </a:rPr>
              <a:t>:</a:t>
            </a:r>
            <a:endParaRPr sz="3200">
              <a:solidFill>
                <a:srgbClr val="FFC000"/>
              </a:solidFill>
              <a:latin typeface="Constantia"/>
              <a:ea typeface="Constantia"/>
              <a:cs typeface="Constantia"/>
              <a:sym typeface="Constantia"/>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Identify the degree of each vertex. </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Sort the vertices in decreasing order of their degree.</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Assign a color to the first vertex (A) in the list. </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Traverse the list and assign the same color to the first vertex (B) that is not adjacent to (A). </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Continue traversing the list and assign the same color to the next vertex (C) that is not adjacent to any previously colored vertices (A or B). </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Continue until all vertices in the list have been processed. </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Choose a second color for the first vertex (D) that has not yet been colored. </a:t>
            </a:r>
            <a:endParaRPr/>
          </a:p>
          <a:p>
            <a:pPr indent="-315913" lvl="0" marL="538163" rtl="0" algn="l">
              <a:lnSpc>
                <a:spcPct val="100000"/>
              </a:lnSpc>
              <a:spcBef>
                <a:spcPts val="690"/>
              </a:spcBef>
              <a:spcAft>
                <a:spcPts val="0"/>
              </a:spcAft>
              <a:buClr>
                <a:srgbClr val="FF0000"/>
              </a:buClr>
              <a:buSzPts val="2400"/>
              <a:buFont typeface="Constantia"/>
              <a:buAutoNum type="arabicPeriod"/>
            </a:pPr>
            <a:r>
              <a:rPr lang="fr-FR" sz="2400"/>
              <a:t>Repeat steps 4 to 7 until all vertices are colored.</a:t>
            </a:r>
            <a:endParaRPr sz="2400">
              <a:latin typeface="Constantia"/>
              <a:ea typeface="Constantia"/>
              <a:cs typeface="Constantia"/>
              <a:sym typeface="Constant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1"/>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04" name="Google Shape;104;p11"/>
          <p:cNvSpPr txBox="1"/>
          <p:nvPr/>
        </p:nvSpPr>
        <p:spPr>
          <a:xfrm>
            <a:off x="-12700" y="999236"/>
            <a:ext cx="8928100" cy="1378583"/>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just">
              <a:lnSpc>
                <a:spcPct val="100000"/>
              </a:lnSpc>
              <a:spcBef>
                <a:spcPts val="90"/>
              </a:spcBef>
              <a:spcAft>
                <a:spcPts val="0"/>
              </a:spcAft>
              <a:buNone/>
            </a:pPr>
            <a:r>
              <a:rPr lang="fr-FR" sz="2800"/>
              <a:t>The vertices can be ranked by decreasing degree, and then colored.</a:t>
            </a:r>
            <a:endParaRPr sz="2400">
              <a:latin typeface="Constantia"/>
              <a:ea typeface="Constantia"/>
              <a:cs typeface="Constantia"/>
              <a:sym typeface="Constantia"/>
            </a:endParaRPr>
          </a:p>
        </p:txBody>
      </p:sp>
      <p:graphicFrame>
        <p:nvGraphicFramePr>
          <p:cNvPr id="105" name="Google Shape;105;p11"/>
          <p:cNvGraphicFramePr/>
          <p:nvPr/>
        </p:nvGraphicFramePr>
        <p:xfrm>
          <a:off x="1143000" y="23825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u="none" cap="none" strike="noStrike"/>
                        <a:t>Vertex</a:t>
                      </a:r>
                      <a:endParaRPr sz="1800"/>
                    </a:p>
                  </a:txBody>
                  <a:tcPr marT="45725" marB="45725" marR="91450" marL="91450"/>
                </a:tc>
                <a:tc>
                  <a:txBody>
                    <a:bodyPr/>
                    <a:lstStyle/>
                    <a:p>
                      <a:pPr indent="0" lvl="0" marL="0" marR="0" rtl="0" algn="ctr">
                        <a:spcBef>
                          <a:spcPts val="0"/>
                        </a:spcBef>
                        <a:spcAft>
                          <a:spcPts val="0"/>
                        </a:spcAft>
                        <a:buNone/>
                      </a:pPr>
                      <a:r>
                        <a:rPr lang="fr-FR" sz="1800"/>
                        <a:t>C</a:t>
                      </a:r>
                      <a:endParaRPr sz="1800"/>
                    </a:p>
                  </a:txBody>
                  <a:tcPr marT="45725" marB="45725" marR="91450" marL="91450"/>
                </a:tc>
                <a:tc>
                  <a:txBody>
                    <a:bodyPr/>
                    <a:lstStyle/>
                    <a:p>
                      <a:pPr indent="0" lvl="0" marL="0" marR="0" rtl="0" algn="ctr">
                        <a:spcBef>
                          <a:spcPts val="0"/>
                        </a:spcBef>
                        <a:spcAft>
                          <a:spcPts val="0"/>
                        </a:spcAft>
                        <a:buNone/>
                      </a:pPr>
                      <a:r>
                        <a:rPr lang="fr-FR" sz="1800"/>
                        <a:t>D</a:t>
                      </a:r>
                      <a:endParaRPr sz="1800"/>
                    </a:p>
                  </a:txBody>
                  <a:tcPr marT="45725" marB="45725" marR="91450" marL="91450"/>
                </a:tc>
                <a:tc>
                  <a:txBody>
                    <a:bodyPr/>
                    <a:lstStyle/>
                    <a:p>
                      <a:pPr indent="0" lvl="0" marL="0" marR="0" rtl="0" algn="ctr">
                        <a:spcBef>
                          <a:spcPts val="0"/>
                        </a:spcBef>
                        <a:spcAft>
                          <a:spcPts val="0"/>
                        </a:spcAft>
                        <a:buNone/>
                      </a:pPr>
                      <a:r>
                        <a:rPr lang="fr-FR" sz="1800"/>
                        <a:t>F</a:t>
                      </a:r>
                      <a:endParaRPr sz="1800"/>
                    </a:p>
                  </a:txBody>
                  <a:tcPr marT="45725" marB="45725" marR="91450" marL="91450"/>
                </a:tc>
                <a:tc>
                  <a:txBody>
                    <a:bodyPr/>
                    <a:lstStyle/>
                    <a:p>
                      <a:pPr indent="0" lvl="0" marL="0" marR="0" rtl="0" algn="ctr">
                        <a:spcBef>
                          <a:spcPts val="0"/>
                        </a:spcBef>
                        <a:spcAft>
                          <a:spcPts val="0"/>
                        </a:spcAft>
                        <a:buNone/>
                      </a:pPr>
                      <a:r>
                        <a:rPr lang="fr-FR" sz="1800"/>
                        <a:t>B</a:t>
                      </a:r>
                      <a:endParaRPr sz="1800"/>
                    </a:p>
                  </a:txBody>
                  <a:tcPr marT="45725" marB="45725" marR="91450" marL="91450"/>
                </a:tc>
                <a:tc>
                  <a:txBody>
                    <a:bodyPr/>
                    <a:lstStyle/>
                    <a:p>
                      <a:pPr indent="0" lvl="0" marL="0" marR="0" rtl="0" algn="ctr">
                        <a:spcBef>
                          <a:spcPts val="0"/>
                        </a:spcBef>
                        <a:spcAft>
                          <a:spcPts val="0"/>
                        </a:spcAft>
                        <a:buNone/>
                      </a:pPr>
                      <a:r>
                        <a:rPr lang="fr-FR" sz="1800"/>
                        <a:t>E</a:t>
                      </a:r>
                      <a:endParaRPr sz="1800"/>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t>A</a:t>
                      </a:r>
                      <a:endParaRPr sz="1800"/>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06" name="Google Shape;106;p11"/>
          <p:cNvPicPr preferRelativeResize="0"/>
          <p:nvPr/>
        </p:nvPicPr>
        <p:blipFill rotWithShape="1">
          <a:blip r:embed="rId3">
            <a:alphaModFix/>
          </a:blip>
          <a:srcRect b="0" l="0" r="0" t="0"/>
          <a:stretch/>
        </p:blipFill>
        <p:spPr>
          <a:xfrm>
            <a:off x="829925" y="3320810"/>
            <a:ext cx="6553200" cy="35371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2"/>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12" name="Google Shape;112;p12"/>
          <p:cNvSpPr txBox="1"/>
          <p:nvPr/>
        </p:nvSpPr>
        <p:spPr>
          <a:xfrm>
            <a:off x="-12700" y="999236"/>
            <a:ext cx="8699500" cy="2019784"/>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l">
              <a:lnSpc>
                <a:spcPct val="100000"/>
              </a:lnSpc>
              <a:spcBef>
                <a:spcPts val="90"/>
              </a:spcBef>
              <a:spcAft>
                <a:spcPts val="0"/>
              </a:spcAft>
              <a:buNone/>
            </a:pPr>
            <a:r>
              <a:rPr lang="fr-FR" sz="2400"/>
              <a:t>One possible coloring could be:</a:t>
            </a:r>
            <a:br>
              <a:rPr lang="fr-FR" sz="2400"/>
            </a:br>
            <a:r>
              <a:rPr lang="fr-FR" sz="2400"/>
              <a:t>Color </a:t>
            </a:r>
            <a:r>
              <a:rPr lang="fr-FR" sz="2400">
                <a:solidFill>
                  <a:srgbClr val="FF0000"/>
                </a:solidFill>
              </a:rPr>
              <a:t>C</a:t>
            </a:r>
            <a:r>
              <a:rPr lang="fr-FR" sz="2400"/>
              <a:t> in red color, then proceed in decreasing order...</a:t>
            </a:r>
            <a:endParaRPr/>
          </a:p>
          <a:p>
            <a:pPr indent="0" lvl="0" marL="12700" rtl="0" algn="l">
              <a:lnSpc>
                <a:spcPct val="100000"/>
              </a:lnSpc>
              <a:spcBef>
                <a:spcPts val="90"/>
              </a:spcBef>
              <a:spcAft>
                <a:spcPts val="0"/>
              </a:spcAft>
              <a:buNone/>
            </a:pPr>
            <a:r>
              <a:t/>
            </a:r>
            <a:endParaRPr sz="2400"/>
          </a:p>
          <a:p>
            <a:pPr indent="0" lvl="0" marL="12700" rtl="0" algn="l">
              <a:spcBef>
                <a:spcPts val="90"/>
              </a:spcBef>
              <a:spcAft>
                <a:spcPts val="0"/>
              </a:spcAft>
              <a:buNone/>
            </a:pPr>
            <a:r>
              <a:t/>
            </a:r>
            <a:endParaRPr sz="2400"/>
          </a:p>
        </p:txBody>
      </p:sp>
      <p:graphicFrame>
        <p:nvGraphicFramePr>
          <p:cNvPr id="113" name="Google Shape;113;p12"/>
          <p:cNvGraphicFramePr/>
          <p:nvPr/>
        </p:nvGraphicFramePr>
        <p:xfrm>
          <a:off x="1143000" y="23825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t>D</a:t>
                      </a:r>
                      <a:endParaRPr sz="1800"/>
                    </a:p>
                  </a:txBody>
                  <a:tcPr marT="45725" marB="45725" marR="91450" marL="91450"/>
                </a:tc>
                <a:tc>
                  <a:txBody>
                    <a:bodyPr/>
                    <a:lstStyle/>
                    <a:p>
                      <a:pPr indent="0" lvl="0" marL="0" marR="0" rtl="0" algn="ctr">
                        <a:spcBef>
                          <a:spcPts val="0"/>
                        </a:spcBef>
                        <a:spcAft>
                          <a:spcPts val="0"/>
                        </a:spcAft>
                        <a:buNone/>
                      </a:pPr>
                      <a:r>
                        <a:rPr lang="fr-FR" sz="1800"/>
                        <a:t>F</a:t>
                      </a:r>
                      <a:endParaRPr sz="1800"/>
                    </a:p>
                  </a:txBody>
                  <a:tcPr marT="45725" marB="45725" marR="91450" marL="91450"/>
                </a:tc>
                <a:tc>
                  <a:txBody>
                    <a:bodyPr/>
                    <a:lstStyle/>
                    <a:p>
                      <a:pPr indent="0" lvl="0" marL="0" marR="0" rtl="0" algn="ctr">
                        <a:spcBef>
                          <a:spcPts val="0"/>
                        </a:spcBef>
                        <a:spcAft>
                          <a:spcPts val="0"/>
                        </a:spcAft>
                        <a:buNone/>
                      </a:pPr>
                      <a:r>
                        <a:rPr lang="fr-FR" sz="1800"/>
                        <a:t>B</a:t>
                      </a:r>
                      <a:endParaRPr sz="1800"/>
                    </a:p>
                  </a:txBody>
                  <a:tcPr marT="45725" marB="45725" marR="91450" marL="91450"/>
                </a:tc>
                <a:tc>
                  <a:txBody>
                    <a:bodyPr/>
                    <a:lstStyle/>
                    <a:p>
                      <a:pPr indent="0" lvl="0" marL="0" marR="0" rtl="0" algn="ctr">
                        <a:spcBef>
                          <a:spcPts val="0"/>
                        </a:spcBef>
                        <a:spcAft>
                          <a:spcPts val="0"/>
                        </a:spcAft>
                        <a:buNone/>
                      </a:pPr>
                      <a:r>
                        <a:rPr lang="fr-FR" sz="1800"/>
                        <a:t>E</a:t>
                      </a:r>
                      <a:endParaRPr sz="1800"/>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t>A</a:t>
                      </a:r>
                      <a:endParaRPr sz="1800"/>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14" name="Google Shape;114;p12"/>
          <p:cNvPicPr preferRelativeResize="0"/>
          <p:nvPr/>
        </p:nvPicPr>
        <p:blipFill rotWithShape="1">
          <a:blip r:embed="rId3">
            <a:alphaModFix/>
          </a:blip>
          <a:srcRect b="0" l="0" r="0" t="0"/>
          <a:stretch/>
        </p:blipFill>
        <p:spPr>
          <a:xfrm>
            <a:off x="742275" y="3215550"/>
            <a:ext cx="7315200" cy="3543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3"/>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20" name="Google Shape;120;p13"/>
          <p:cNvSpPr txBox="1"/>
          <p:nvPr/>
        </p:nvSpPr>
        <p:spPr>
          <a:xfrm>
            <a:off x="-12700" y="999237"/>
            <a:ext cx="8699500" cy="1624804"/>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l">
              <a:spcBef>
                <a:spcPts val="90"/>
              </a:spcBef>
              <a:spcAft>
                <a:spcPts val="0"/>
              </a:spcAft>
              <a:buNone/>
            </a:pPr>
            <a:r>
              <a:rPr lang="fr-FR" sz="2400"/>
              <a:t>One possible coloring could be:</a:t>
            </a:r>
            <a:br>
              <a:rPr lang="fr-FR" sz="2400"/>
            </a:br>
            <a:r>
              <a:rPr lang="fr-FR" sz="2400"/>
              <a:t>Color </a:t>
            </a:r>
            <a:r>
              <a:rPr lang="fr-FR" sz="2400">
                <a:solidFill>
                  <a:srgbClr val="FF0000"/>
                </a:solidFill>
              </a:rPr>
              <a:t>C</a:t>
            </a:r>
            <a:r>
              <a:rPr lang="fr-FR" sz="2400"/>
              <a:t> in red color, then proceed in decreasing order, color the non adjacent vertex </a:t>
            </a:r>
            <a:r>
              <a:rPr lang="fr-FR" sz="2400">
                <a:solidFill>
                  <a:srgbClr val="FF0000"/>
                </a:solidFill>
              </a:rPr>
              <a:t>A</a:t>
            </a:r>
            <a:r>
              <a:rPr lang="fr-FR" sz="2400"/>
              <a:t> in red color</a:t>
            </a:r>
            <a:endParaRPr sz="3200">
              <a:latin typeface="Constantia"/>
              <a:ea typeface="Constantia"/>
              <a:cs typeface="Constantia"/>
              <a:sym typeface="Constantia"/>
            </a:endParaRPr>
          </a:p>
        </p:txBody>
      </p:sp>
      <p:graphicFrame>
        <p:nvGraphicFramePr>
          <p:cNvPr id="121" name="Google Shape;121;p13"/>
          <p:cNvGraphicFramePr/>
          <p:nvPr/>
        </p:nvGraphicFramePr>
        <p:xfrm>
          <a:off x="1143000" y="27635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t>D</a:t>
                      </a:r>
                      <a:endParaRPr sz="1800"/>
                    </a:p>
                  </a:txBody>
                  <a:tcPr marT="45725" marB="45725" marR="91450" marL="91450"/>
                </a:tc>
                <a:tc>
                  <a:txBody>
                    <a:bodyPr/>
                    <a:lstStyle/>
                    <a:p>
                      <a:pPr indent="0" lvl="0" marL="0" marR="0" rtl="0" algn="ctr">
                        <a:spcBef>
                          <a:spcPts val="0"/>
                        </a:spcBef>
                        <a:spcAft>
                          <a:spcPts val="0"/>
                        </a:spcAft>
                        <a:buNone/>
                      </a:pPr>
                      <a:r>
                        <a:rPr lang="fr-FR" sz="1800"/>
                        <a:t>F</a:t>
                      </a:r>
                      <a:endParaRPr sz="1800"/>
                    </a:p>
                  </a:txBody>
                  <a:tcPr marT="45725" marB="45725" marR="91450" marL="91450"/>
                </a:tc>
                <a:tc>
                  <a:txBody>
                    <a:bodyPr/>
                    <a:lstStyle/>
                    <a:p>
                      <a:pPr indent="0" lvl="0" marL="0" marR="0" rtl="0" algn="ctr">
                        <a:spcBef>
                          <a:spcPts val="0"/>
                        </a:spcBef>
                        <a:spcAft>
                          <a:spcPts val="0"/>
                        </a:spcAft>
                        <a:buNone/>
                      </a:pPr>
                      <a:r>
                        <a:rPr lang="fr-FR" sz="1800"/>
                        <a:t>B</a:t>
                      </a:r>
                      <a:endParaRPr sz="1800"/>
                    </a:p>
                  </a:txBody>
                  <a:tcPr marT="45725" marB="45725" marR="91450" marL="91450"/>
                </a:tc>
                <a:tc>
                  <a:txBody>
                    <a:bodyPr/>
                    <a:lstStyle/>
                    <a:p>
                      <a:pPr indent="0" lvl="0" marL="0" marR="0" rtl="0" algn="ctr">
                        <a:spcBef>
                          <a:spcPts val="0"/>
                        </a:spcBef>
                        <a:spcAft>
                          <a:spcPts val="0"/>
                        </a:spcAft>
                        <a:buNone/>
                      </a:pPr>
                      <a:r>
                        <a:rPr lang="fr-FR" sz="1800"/>
                        <a:t>E</a:t>
                      </a:r>
                      <a:endParaRPr sz="1800"/>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A</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22" name="Google Shape;122;p13"/>
          <p:cNvPicPr preferRelativeResize="0"/>
          <p:nvPr/>
        </p:nvPicPr>
        <p:blipFill rotWithShape="1">
          <a:blip r:embed="rId3">
            <a:alphaModFix/>
          </a:blip>
          <a:srcRect b="0" l="0" r="0" t="0"/>
          <a:stretch/>
        </p:blipFill>
        <p:spPr>
          <a:xfrm>
            <a:off x="1000125" y="3629026"/>
            <a:ext cx="6696075" cy="31032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4"/>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28" name="Google Shape;128;p14"/>
          <p:cNvSpPr txBox="1"/>
          <p:nvPr/>
        </p:nvSpPr>
        <p:spPr>
          <a:xfrm>
            <a:off x="-12700" y="999236"/>
            <a:ext cx="8547100" cy="1255472"/>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 </a:t>
            </a:r>
            <a:endParaRPr/>
          </a:p>
          <a:p>
            <a:pPr indent="0" lvl="0" marL="12700" rtl="0" algn="l">
              <a:lnSpc>
                <a:spcPct val="100000"/>
              </a:lnSpc>
              <a:spcBef>
                <a:spcPts val="90"/>
              </a:spcBef>
              <a:spcAft>
                <a:spcPts val="0"/>
              </a:spcAft>
              <a:buNone/>
            </a:pPr>
            <a:r>
              <a:rPr lang="fr-FR" sz="2400"/>
              <a:t>Then we change the color, color </a:t>
            </a:r>
            <a:r>
              <a:rPr lang="fr-FR" sz="2400">
                <a:solidFill>
                  <a:srgbClr val="00B0F0"/>
                </a:solidFill>
              </a:rPr>
              <a:t>D</a:t>
            </a:r>
            <a:r>
              <a:rPr lang="fr-FR" sz="2400"/>
              <a:t> in blue color, then proceed in decreasing order....</a:t>
            </a:r>
            <a:endParaRPr sz="2400">
              <a:latin typeface="Constantia"/>
              <a:ea typeface="Constantia"/>
              <a:cs typeface="Constantia"/>
              <a:sym typeface="Constantia"/>
            </a:endParaRPr>
          </a:p>
        </p:txBody>
      </p:sp>
      <p:graphicFrame>
        <p:nvGraphicFramePr>
          <p:cNvPr id="129" name="Google Shape;129;p14"/>
          <p:cNvGraphicFramePr/>
          <p:nvPr/>
        </p:nvGraphicFramePr>
        <p:xfrm>
          <a:off x="1143000" y="23063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D</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t>F</a:t>
                      </a:r>
                      <a:endParaRPr sz="1800"/>
                    </a:p>
                  </a:txBody>
                  <a:tcPr marT="45725" marB="45725" marR="91450" marL="91450"/>
                </a:tc>
                <a:tc>
                  <a:txBody>
                    <a:bodyPr/>
                    <a:lstStyle/>
                    <a:p>
                      <a:pPr indent="0" lvl="0" marL="0" marR="0" rtl="0" algn="ctr">
                        <a:spcBef>
                          <a:spcPts val="0"/>
                        </a:spcBef>
                        <a:spcAft>
                          <a:spcPts val="0"/>
                        </a:spcAft>
                        <a:buNone/>
                      </a:pPr>
                      <a:r>
                        <a:rPr lang="fr-FR" sz="1800"/>
                        <a:t>B</a:t>
                      </a:r>
                      <a:endParaRPr sz="1800"/>
                    </a:p>
                  </a:txBody>
                  <a:tcPr marT="45725" marB="45725" marR="91450" marL="91450"/>
                </a:tc>
                <a:tc>
                  <a:txBody>
                    <a:bodyPr/>
                    <a:lstStyle/>
                    <a:p>
                      <a:pPr indent="0" lvl="0" marL="0" marR="0" rtl="0" algn="ctr">
                        <a:spcBef>
                          <a:spcPts val="0"/>
                        </a:spcBef>
                        <a:spcAft>
                          <a:spcPts val="0"/>
                        </a:spcAft>
                        <a:buNone/>
                      </a:pPr>
                      <a:r>
                        <a:rPr lang="fr-FR" sz="1800"/>
                        <a:t>E</a:t>
                      </a:r>
                      <a:endParaRPr sz="1800"/>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A</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30" name="Google Shape;130;p14"/>
          <p:cNvPicPr preferRelativeResize="0"/>
          <p:nvPr/>
        </p:nvPicPr>
        <p:blipFill rotWithShape="1">
          <a:blip r:embed="rId3">
            <a:alphaModFix/>
          </a:blip>
          <a:srcRect b="0" l="0" r="0" t="0"/>
          <a:stretch/>
        </p:blipFill>
        <p:spPr>
          <a:xfrm>
            <a:off x="1076325" y="3298448"/>
            <a:ext cx="6543675" cy="32547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5"/>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36" name="Google Shape;136;p15"/>
          <p:cNvSpPr txBox="1"/>
          <p:nvPr/>
        </p:nvSpPr>
        <p:spPr>
          <a:xfrm>
            <a:off x="-12700" y="999236"/>
            <a:ext cx="8775700" cy="2019784"/>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l">
              <a:spcBef>
                <a:spcPts val="90"/>
              </a:spcBef>
              <a:spcAft>
                <a:spcPts val="0"/>
              </a:spcAft>
              <a:buNone/>
            </a:pPr>
            <a:r>
              <a:rPr lang="fr-FR" sz="2400"/>
              <a:t>Then we change the color, color </a:t>
            </a:r>
            <a:r>
              <a:rPr lang="fr-FR" sz="2400">
                <a:solidFill>
                  <a:srgbClr val="00B0F0"/>
                </a:solidFill>
              </a:rPr>
              <a:t>D</a:t>
            </a:r>
            <a:r>
              <a:rPr lang="fr-FR" sz="2400"/>
              <a:t> in blue color, then proceed in decreasing order, color the non adjacent vertex </a:t>
            </a:r>
            <a:r>
              <a:rPr lang="fr-FR" sz="2400">
                <a:solidFill>
                  <a:srgbClr val="00B0F0"/>
                </a:solidFill>
              </a:rPr>
              <a:t>B </a:t>
            </a:r>
            <a:r>
              <a:rPr lang="fr-FR" sz="2400"/>
              <a:t>in blue color</a:t>
            </a:r>
            <a:endParaRPr sz="2400">
              <a:latin typeface="Constantia"/>
              <a:ea typeface="Constantia"/>
              <a:cs typeface="Constantia"/>
              <a:sym typeface="Constantia"/>
            </a:endParaRPr>
          </a:p>
          <a:p>
            <a:pPr indent="0" lvl="0" marL="12700" rtl="0" algn="l">
              <a:lnSpc>
                <a:spcPct val="100000"/>
              </a:lnSpc>
              <a:spcBef>
                <a:spcPts val="90"/>
              </a:spcBef>
              <a:spcAft>
                <a:spcPts val="0"/>
              </a:spcAft>
              <a:buNone/>
            </a:pPr>
            <a:r>
              <a:t/>
            </a:r>
            <a:endParaRPr b="1" sz="2400">
              <a:solidFill>
                <a:srgbClr val="FFC000"/>
              </a:solidFill>
              <a:latin typeface="Constantia"/>
              <a:ea typeface="Constantia"/>
              <a:cs typeface="Constantia"/>
              <a:sym typeface="Constantia"/>
            </a:endParaRPr>
          </a:p>
          <a:p>
            <a:pPr indent="0" lvl="0" marL="12700" rtl="0" algn="l">
              <a:lnSpc>
                <a:spcPct val="100000"/>
              </a:lnSpc>
              <a:spcBef>
                <a:spcPts val="90"/>
              </a:spcBef>
              <a:spcAft>
                <a:spcPts val="0"/>
              </a:spcAft>
              <a:buNone/>
            </a:pPr>
            <a:r>
              <a:t/>
            </a:r>
            <a:endParaRPr sz="2400">
              <a:latin typeface="Constantia"/>
              <a:ea typeface="Constantia"/>
              <a:cs typeface="Constantia"/>
              <a:sym typeface="Constantia"/>
            </a:endParaRPr>
          </a:p>
        </p:txBody>
      </p:sp>
      <p:graphicFrame>
        <p:nvGraphicFramePr>
          <p:cNvPr id="137" name="Google Shape;137;p15"/>
          <p:cNvGraphicFramePr/>
          <p:nvPr/>
        </p:nvGraphicFramePr>
        <p:xfrm>
          <a:off x="1143000" y="23063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D</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t>F</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B</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t>E</a:t>
                      </a:r>
                      <a:endParaRPr sz="1800"/>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A</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38" name="Google Shape;138;p15"/>
          <p:cNvPicPr preferRelativeResize="0"/>
          <p:nvPr/>
        </p:nvPicPr>
        <p:blipFill rotWithShape="1">
          <a:blip r:embed="rId3">
            <a:alphaModFix/>
          </a:blip>
          <a:srcRect b="0" l="0" r="0" t="0"/>
          <a:stretch/>
        </p:blipFill>
        <p:spPr>
          <a:xfrm>
            <a:off x="914400" y="3305175"/>
            <a:ext cx="7315200" cy="3400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 Welsh-Powell greedy algorithm</a:t>
            </a:r>
            <a:endParaRPr/>
          </a:p>
        </p:txBody>
      </p:sp>
      <p:sp>
        <p:nvSpPr>
          <p:cNvPr id="144" name="Google Shape;144;p16"/>
          <p:cNvSpPr txBox="1"/>
          <p:nvPr/>
        </p:nvSpPr>
        <p:spPr>
          <a:xfrm>
            <a:off x="-12700" y="999236"/>
            <a:ext cx="8851900" cy="1255472"/>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l">
              <a:spcBef>
                <a:spcPts val="90"/>
              </a:spcBef>
              <a:spcAft>
                <a:spcPts val="0"/>
              </a:spcAft>
              <a:buNone/>
            </a:pPr>
            <a:r>
              <a:rPr lang="fr-FR" sz="2400"/>
              <a:t>Then we change the color, color </a:t>
            </a:r>
            <a:r>
              <a:rPr lang="fr-FR" sz="2400">
                <a:solidFill>
                  <a:srgbClr val="00B050"/>
                </a:solidFill>
              </a:rPr>
              <a:t>F</a:t>
            </a:r>
            <a:r>
              <a:rPr lang="fr-FR" sz="2400"/>
              <a:t> in green color, then proceed in decreasing order....</a:t>
            </a:r>
            <a:endParaRPr sz="2400">
              <a:latin typeface="Constantia"/>
              <a:ea typeface="Constantia"/>
              <a:cs typeface="Constantia"/>
              <a:sym typeface="Constantia"/>
            </a:endParaRPr>
          </a:p>
        </p:txBody>
      </p:sp>
      <p:graphicFrame>
        <p:nvGraphicFramePr>
          <p:cNvPr id="145" name="Google Shape;145;p16"/>
          <p:cNvGraphicFramePr/>
          <p:nvPr/>
        </p:nvGraphicFramePr>
        <p:xfrm>
          <a:off x="1143000" y="236220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D</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50"/>
                          </a:solidFill>
                        </a:rPr>
                        <a:t>F</a:t>
                      </a:r>
                      <a:endParaRPr sz="1800">
                        <a:solidFill>
                          <a:srgbClr val="00B05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B</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t>E</a:t>
                      </a:r>
                      <a:endParaRPr sz="1800"/>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A</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46" name="Google Shape;146;p16"/>
          <p:cNvPicPr preferRelativeResize="0"/>
          <p:nvPr/>
        </p:nvPicPr>
        <p:blipFill rotWithShape="1">
          <a:blip r:embed="rId3">
            <a:alphaModFix/>
          </a:blip>
          <a:srcRect b="0" l="0" r="0" t="0"/>
          <a:stretch/>
        </p:blipFill>
        <p:spPr>
          <a:xfrm>
            <a:off x="914400" y="3301702"/>
            <a:ext cx="6934200" cy="340389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52" name="Google Shape;152;p17"/>
          <p:cNvSpPr txBox="1"/>
          <p:nvPr/>
        </p:nvSpPr>
        <p:spPr>
          <a:xfrm>
            <a:off x="-12700" y="999236"/>
            <a:ext cx="8699500" cy="1624804"/>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just">
              <a:spcBef>
                <a:spcPts val="90"/>
              </a:spcBef>
              <a:spcAft>
                <a:spcPts val="0"/>
              </a:spcAft>
              <a:buNone/>
            </a:pPr>
            <a:r>
              <a:rPr lang="fr-FR" sz="2400"/>
              <a:t>Then we change the color, color </a:t>
            </a:r>
            <a:r>
              <a:rPr lang="fr-FR" sz="2400">
                <a:solidFill>
                  <a:srgbClr val="00B050"/>
                </a:solidFill>
              </a:rPr>
              <a:t>F</a:t>
            </a:r>
            <a:r>
              <a:rPr lang="fr-FR" sz="2400"/>
              <a:t> in green color, then proceed in decreasing order, color the non adjacent vertex </a:t>
            </a:r>
            <a:r>
              <a:rPr lang="fr-FR" sz="2400">
                <a:solidFill>
                  <a:srgbClr val="00B050"/>
                </a:solidFill>
              </a:rPr>
              <a:t>E</a:t>
            </a:r>
            <a:r>
              <a:rPr lang="fr-FR" sz="2400">
                <a:solidFill>
                  <a:srgbClr val="00B0F0"/>
                </a:solidFill>
              </a:rPr>
              <a:t> </a:t>
            </a:r>
            <a:r>
              <a:rPr lang="fr-FR" sz="2400"/>
              <a:t>in green color.</a:t>
            </a:r>
            <a:endParaRPr sz="3200">
              <a:latin typeface="Constantia"/>
              <a:ea typeface="Constantia"/>
              <a:cs typeface="Constantia"/>
              <a:sym typeface="Constantia"/>
            </a:endParaRPr>
          </a:p>
        </p:txBody>
      </p:sp>
      <p:graphicFrame>
        <p:nvGraphicFramePr>
          <p:cNvPr id="153" name="Google Shape;153;p17"/>
          <p:cNvGraphicFramePr/>
          <p:nvPr/>
        </p:nvGraphicFramePr>
        <p:xfrm>
          <a:off x="1143000" y="26111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D</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50"/>
                          </a:solidFill>
                        </a:rPr>
                        <a:t>F</a:t>
                      </a:r>
                      <a:endParaRPr sz="1800">
                        <a:solidFill>
                          <a:srgbClr val="00B05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B</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50"/>
                          </a:solidFill>
                        </a:rPr>
                        <a:t>E</a:t>
                      </a:r>
                      <a:endParaRPr sz="1800">
                        <a:solidFill>
                          <a:srgbClr val="00B050"/>
                        </a:solidFill>
                      </a:endParaRPr>
                    </a:p>
                  </a:txBody>
                  <a:tcPr marT="45725" marB="45725" marR="91450" marL="91450"/>
                </a:tc>
                <a:tc>
                  <a:txBody>
                    <a:bodyPr/>
                    <a:lstStyle/>
                    <a:p>
                      <a:pPr indent="0" lvl="0" marL="0" marR="0" rtl="0" algn="ctr">
                        <a:spcBef>
                          <a:spcPts val="0"/>
                        </a:spcBef>
                        <a:spcAft>
                          <a:spcPts val="0"/>
                        </a:spcAft>
                        <a:buNone/>
                      </a:pPr>
                      <a:r>
                        <a:rPr lang="fr-FR" sz="1800"/>
                        <a:t>G</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A</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54" name="Google Shape;154;p17"/>
          <p:cNvPicPr preferRelativeResize="0"/>
          <p:nvPr/>
        </p:nvPicPr>
        <p:blipFill rotWithShape="1">
          <a:blip r:embed="rId3">
            <a:alphaModFix/>
          </a:blip>
          <a:srcRect b="0" l="0" r="0" t="0"/>
          <a:stretch/>
        </p:blipFill>
        <p:spPr>
          <a:xfrm>
            <a:off x="995363" y="3574415"/>
            <a:ext cx="6777037" cy="32073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ctrTitle"/>
          </p:nvPr>
        </p:nvSpPr>
        <p:spPr>
          <a:xfrm>
            <a:off x="-12700" y="413461"/>
            <a:ext cx="7906384" cy="5124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2.Welsh-Powell greedy algorithm</a:t>
            </a:r>
            <a:endParaRPr/>
          </a:p>
        </p:txBody>
      </p:sp>
      <p:sp>
        <p:nvSpPr>
          <p:cNvPr id="160" name="Google Shape;160;p18"/>
          <p:cNvSpPr txBox="1"/>
          <p:nvPr/>
        </p:nvSpPr>
        <p:spPr>
          <a:xfrm>
            <a:off x="-12700" y="999236"/>
            <a:ext cx="8623300" cy="1501693"/>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b="1" sz="3200">
              <a:solidFill>
                <a:srgbClr val="FFC000"/>
              </a:solidFill>
              <a:latin typeface="Constantia"/>
              <a:ea typeface="Constantia"/>
              <a:cs typeface="Constantia"/>
              <a:sym typeface="Constantia"/>
            </a:endParaRPr>
          </a:p>
          <a:p>
            <a:pPr indent="0" lvl="0" marL="12700" rtl="0" algn="l">
              <a:lnSpc>
                <a:spcPct val="100000"/>
              </a:lnSpc>
              <a:spcBef>
                <a:spcPts val="90"/>
              </a:spcBef>
              <a:spcAft>
                <a:spcPts val="0"/>
              </a:spcAft>
              <a:buNone/>
            </a:pPr>
            <a:r>
              <a:rPr lang="fr-FR" sz="3200"/>
              <a:t>Finally, we change the color, color </a:t>
            </a:r>
            <a:r>
              <a:rPr lang="fr-FR" sz="3200">
                <a:solidFill>
                  <a:schemeClr val="accent6"/>
                </a:solidFill>
              </a:rPr>
              <a:t>G</a:t>
            </a:r>
            <a:r>
              <a:rPr lang="fr-FR" sz="3200"/>
              <a:t> in orange color.</a:t>
            </a:r>
            <a:endParaRPr sz="3200">
              <a:latin typeface="Constantia"/>
              <a:ea typeface="Constantia"/>
              <a:cs typeface="Constantia"/>
              <a:sym typeface="Constantia"/>
            </a:endParaRPr>
          </a:p>
        </p:txBody>
      </p:sp>
      <p:graphicFrame>
        <p:nvGraphicFramePr>
          <p:cNvPr id="161" name="Google Shape;161;p18"/>
          <p:cNvGraphicFramePr/>
          <p:nvPr/>
        </p:nvGraphicFramePr>
        <p:xfrm>
          <a:off x="1371600" y="2306320"/>
          <a:ext cx="3000000" cy="3000000"/>
        </p:xfrm>
        <a:graphic>
          <a:graphicData uri="http://schemas.openxmlformats.org/drawingml/2006/table">
            <a:tbl>
              <a:tblPr bandRow="1" firstRow="1">
                <a:noFill/>
                <a:tableStyleId>{6596D6D0-48A0-4250-933E-28DF59EA40AD}</a:tableStyleId>
              </a:tblPr>
              <a:tblGrid>
                <a:gridCol w="914400"/>
                <a:gridCol w="685800"/>
                <a:gridCol w="800100"/>
                <a:gridCol w="800100"/>
                <a:gridCol w="800100"/>
                <a:gridCol w="800100"/>
                <a:gridCol w="800100"/>
                <a:gridCol w="800100"/>
              </a:tblGrid>
              <a:tr h="370850">
                <a:tc>
                  <a:txBody>
                    <a:bodyPr/>
                    <a:lstStyle/>
                    <a:p>
                      <a:pPr indent="0" lvl="0" marL="0" marR="0" rtl="0" algn="l">
                        <a:spcBef>
                          <a:spcPts val="0"/>
                        </a:spcBef>
                        <a:spcAft>
                          <a:spcPts val="0"/>
                        </a:spcAft>
                        <a:buNone/>
                      </a:pPr>
                      <a:r>
                        <a:rPr lang="fr-FR" sz="1800"/>
                        <a:t>Vertex</a:t>
                      </a:r>
                      <a:endParaRPr sz="1800"/>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C</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D</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50"/>
                          </a:solidFill>
                        </a:rPr>
                        <a:t>F</a:t>
                      </a:r>
                      <a:endParaRPr sz="1800">
                        <a:solidFill>
                          <a:srgbClr val="00B05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F0"/>
                          </a:solidFill>
                        </a:rPr>
                        <a:t>B</a:t>
                      </a:r>
                      <a:endParaRPr sz="1800">
                        <a:solidFill>
                          <a:srgbClr val="00B0F0"/>
                        </a:solidFill>
                      </a:endParaRPr>
                    </a:p>
                  </a:txBody>
                  <a:tcPr marT="45725" marB="45725" marR="91450" marL="91450"/>
                </a:tc>
                <a:tc>
                  <a:txBody>
                    <a:bodyPr/>
                    <a:lstStyle/>
                    <a:p>
                      <a:pPr indent="0" lvl="0" marL="0" marR="0" rtl="0" algn="ctr">
                        <a:spcBef>
                          <a:spcPts val="0"/>
                        </a:spcBef>
                        <a:spcAft>
                          <a:spcPts val="0"/>
                        </a:spcAft>
                        <a:buNone/>
                      </a:pPr>
                      <a:r>
                        <a:rPr lang="fr-FR" sz="1800">
                          <a:solidFill>
                            <a:srgbClr val="00B050"/>
                          </a:solidFill>
                        </a:rPr>
                        <a:t>E</a:t>
                      </a:r>
                      <a:endParaRPr sz="1800">
                        <a:solidFill>
                          <a:srgbClr val="00B050"/>
                        </a:solidFill>
                      </a:endParaRPr>
                    </a:p>
                  </a:txBody>
                  <a:tcPr marT="45725" marB="45725" marR="91450" marL="91450"/>
                </a:tc>
                <a:tc>
                  <a:txBody>
                    <a:bodyPr/>
                    <a:lstStyle/>
                    <a:p>
                      <a:pPr indent="0" lvl="0" marL="0" marR="0" rtl="0" algn="ctr">
                        <a:spcBef>
                          <a:spcPts val="0"/>
                        </a:spcBef>
                        <a:spcAft>
                          <a:spcPts val="0"/>
                        </a:spcAft>
                        <a:buNone/>
                      </a:pPr>
                      <a:r>
                        <a:rPr lang="fr-FR" sz="1800">
                          <a:solidFill>
                            <a:schemeClr val="accent6"/>
                          </a:solidFill>
                        </a:rPr>
                        <a:t>G</a:t>
                      </a:r>
                      <a:endParaRPr sz="1800">
                        <a:solidFill>
                          <a:schemeClr val="accent6"/>
                        </a:solidFill>
                      </a:endParaRPr>
                    </a:p>
                  </a:txBody>
                  <a:tcPr marT="45725" marB="45725" marR="91450" marL="91450"/>
                </a:tc>
                <a:tc>
                  <a:txBody>
                    <a:bodyPr/>
                    <a:lstStyle/>
                    <a:p>
                      <a:pPr indent="0" lvl="0" marL="0" marR="0" rtl="0" algn="ctr">
                        <a:spcBef>
                          <a:spcPts val="0"/>
                        </a:spcBef>
                        <a:spcAft>
                          <a:spcPts val="0"/>
                        </a:spcAft>
                        <a:buNone/>
                      </a:pPr>
                      <a:r>
                        <a:rPr lang="fr-FR" sz="1800">
                          <a:solidFill>
                            <a:srgbClr val="FF0000"/>
                          </a:solidFill>
                        </a:rPr>
                        <a:t>A</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lang="fr-FR" sz="1800"/>
                        <a:t>Degree</a:t>
                      </a:r>
                      <a:endParaRPr sz="1800"/>
                    </a:p>
                  </a:txBody>
                  <a:tcPr marT="45725" marB="45725" marR="91450" marL="91450"/>
                </a:tc>
                <a:tc>
                  <a:txBody>
                    <a:bodyPr/>
                    <a:lstStyle/>
                    <a:p>
                      <a:pPr indent="0" lvl="0" marL="0" marR="0" rtl="0" algn="ctr">
                        <a:spcBef>
                          <a:spcPts val="0"/>
                        </a:spcBef>
                        <a:spcAft>
                          <a:spcPts val="0"/>
                        </a:spcAft>
                        <a:buNone/>
                      </a:pPr>
                      <a:r>
                        <a:rPr lang="fr-FR" sz="1800"/>
                        <a:t>5</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4</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3</a:t>
                      </a:r>
                      <a:endParaRPr sz="1800"/>
                    </a:p>
                  </a:txBody>
                  <a:tcPr marT="45725" marB="45725" marR="91450" marL="91450"/>
                </a:tc>
                <a:tc>
                  <a:txBody>
                    <a:bodyPr/>
                    <a:lstStyle/>
                    <a:p>
                      <a:pPr indent="0" lvl="0" marL="0" marR="0" rtl="0" algn="ctr">
                        <a:spcBef>
                          <a:spcPts val="0"/>
                        </a:spcBef>
                        <a:spcAft>
                          <a:spcPts val="0"/>
                        </a:spcAft>
                        <a:buNone/>
                      </a:pPr>
                      <a:r>
                        <a:rPr lang="fr-FR" sz="1800"/>
                        <a:t>2</a:t>
                      </a:r>
                      <a:endParaRPr sz="1800"/>
                    </a:p>
                  </a:txBody>
                  <a:tcPr marT="45725" marB="45725" marR="91450" marL="91450"/>
                </a:tc>
              </a:tr>
            </a:tbl>
          </a:graphicData>
        </a:graphic>
      </p:graphicFrame>
      <p:pic>
        <p:nvPicPr>
          <p:cNvPr id="162" name="Google Shape;162;p18"/>
          <p:cNvPicPr preferRelativeResize="0"/>
          <p:nvPr/>
        </p:nvPicPr>
        <p:blipFill rotWithShape="1">
          <a:blip r:embed="rId3">
            <a:alphaModFix/>
          </a:blip>
          <a:srcRect b="0" l="0" r="0" t="0"/>
          <a:stretch/>
        </p:blipFill>
        <p:spPr>
          <a:xfrm>
            <a:off x="1066800" y="3272042"/>
            <a:ext cx="7010400" cy="350975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type="title"/>
          </p:nvPr>
        </p:nvSpPr>
        <p:spPr>
          <a:xfrm>
            <a:off x="-12700" y="413461"/>
            <a:ext cx="8623300" cy="57713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fr-FR"/>
              <a:t>2.Welsh-Powell greedy algorithm</a:t>
            </a:r>
            <a:endParaRPr/>
          </a:p>
        </p:txBody>
      </p:sp>
      <p:sp>
        <p:nvSpPr>
          <p:cNvPr id="168" name="Google Shape;168;p19"/>
          <p:cNvSpPr txBox="1"/>
          <p:nvPr>
            <p:ph idx="1" type="body"/>
          </p:nvPr>
        </p:nvSpPr>
        <p:spPr>
          <a:xfrm>
            <a:off x="152400" y="1809214"/>
            <a:ext cx="8534400" cy="387798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fr-FR">
                <a:solidFill>
                  <a:schemeClr val="accent6"/>
                </a:solidFill>
              </a:rPr>
              <a:t>Advantages:</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Simplicity and efficiency: </a:t>
            </a:r>
            <a:r>
              <a:rPr lang="fr-FR"/>
              <a:t>Easy to implement and runs quickly for many graphs.</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Reasonable computation time</a:t>
            </a:r>
            <a:r>
              <a:rPr lang="fr-FR"/>
              <a:t>: efficient for graphs of moderate size.</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Good performance in some cases: </a:t>
            </a:r>
            <a:r>
              <a:rPr lang="fr-FR"/>
              <a:t>Provides a fast and effective approximate solution, especially for graphs with average or low degree.</a:t>
            </a:r>
            <a:endParaRPr/>
          </a:p>
          <a:p>
            <a:pPr indent="0" lvl="0" marL="358775" rtl="0" algn="l">
              <a:spcBef>
                <a:spcPts val="0"/>
              </a:spcBef>
              <a:spcAft>
                <a:spcPts val="0"/>
              </a:spcAft>
              <a:buSzPts val="1800"/>
              <a:buFont typeface="Arial"/>
              <a:buNone/>
            </a:pPr>
            <a:r>
              <a:t/>
            </a:r>
            <a:endParaRPr/>
          </a:p>
          <a:p>
            <a:pPr indent="0" lvl="0" marL="0" rtl="0" algn="l">
              <a:spcBef>
                <a:spcPts val="0"/>
              </a:spcBef>
              <a:spcAft>
                <a:spcPts val="0"/>
              </a:spcAft>
              <a:buNone/>
            </a:pPr>
            <a:r>
              <a:rPr b="1" lang="fr-FR">
                <a:solidFill>
                  <a:schemeClr val="accent6"/>
                </a:solidFill>
              </a:rPr>
              <a:t>Disadvantages:</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Non-optimality:</a:t>
            </a:r>
            <a:r>
              <a:rPr lang="fr-FR"/>
              <a:t> It does not guarantee an optimal solution in terms of the number of colors and may use more colors than necessary.</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Dependency on vertex order: </a:t>
            </a:r>
            <a:r>
              <a:rPr lang="fr-FR"/>
              <a:t>The result may vary depending on the order in which the vertices are processed.</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Not suited for dense graphs: </a:t>
            </a:r>
            <a:r>
              <a:rPr lang="fr-FR"/>
              <a:t>Less effective for graphs with many edges.</a:t>
            </a:r>
            <a:endParaRPr/>
          </a:p>
          <a:p>
            <a:pPr indent="-114300" lvl="0" marL="358775" rtl="0" algn="l">
              <a:spcBef>
                <a:spcPts val="0"/>
              </a:spcBef>
              <a:spcAft>
                <a:spcPts val="0"/>
              </a:spcAft>
              <a:buClr>
                <a:srgbClr val="FF3300"/>
              </a:buClr>
              <a:buSzPts val="1800"/>
              <a:buFont typeface="Arial"/>
              <a:buChar char="•"/>
            </a:pPr>
            <a:r>
              <a:rPr b="1" lang="fr-FR">
                <a:solidFill>
                  <a:srgbClr val="FF3300"/>
                </a:solidFill>
              </a:rPr>
              <a:t>Approximate results: </a:t>
            </a:r>
            <a:r>
              <a:rPr lang="fr-FR"/>
              <a:t>Does not always provide the best possible solution.</a:t>
            </a:r>
            <a:endParaRPr/>
          </a:p>
          <a:p>
            <a:pPr indent="0" lvl="0" marL="0" rtl="0" algn="l">
              <a:spcBef>
                <a:spcPts val="0"/>
              </a:spcBef>
              <a:spcAft>
                <a:spcPts val="0"/>
              </a:spcAft>
              <a:buNone/>
            </a:pPr>
            <a:r>
              <a:t/>
            </a:r>
            <a:endParaRPr/>
          </a:p>
        </p:txBody>
      </p:sp>
      <p:sp>
        <p:nvSpPr>
          <p:cNvPr id="169" name="Google Shape;169;p19"/>
          <p:cNvSpPr/>
          <p:nvPr/>
        </p:nvSpPr>
        <p:spPr>
          <a:xfrm>
            <a:off x="0" y="990600"/>
            <a:ext cx="6125075" cy="584775"/>
          </a:xfrm>
          <a:prstGeom prst="rect">
            <a:avLst/>
          </a:prstGeom>
          <a:noFill/>
          <a:ln>
            <a:noFill/>
          </a:ln>
        </p:spPr>
        <p:txBody>
          <a:bodyPr anchorCtr="0" anchor="t" bIns="45700" lIns="91425" spcFirstLastPara="1" rIns="91425" wrap="square" tIns="45700">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Advantages &amp; Disadvantages</a:t>
            </a:r>
            <a:endParaRPr b="1" sz="3200">
              <a:solidFill>
                <a:srgbClr val="FFC000"/>
              </a:solidFill>
              <a:latin typeface="Constantia"/>
              <a:ea typeface="Constantia"/>
              <a:cs typeface="Constantia"/>
              <a:sym typeface="Constant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ph type="title"/>
          </p:nvPr>
        </p:nvSpPr>
        <p:spPr>
          <a:xfrm>
            <a:off x="-12700" y="413461"/>
            <a:ext cx="4537710"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3. DSATUR Algorithm</a:t>
            </a:r>
            <a:endParaRPr/>
          </a:p>
        </p:txBody>
      </p:sp>
      <p:sp>
        <p:nvSpPr>
          <p:cNvPr id="175" name="Google Shape;175;p20"/>
          <p:cNvSpPr txBox="1"/>
          <p:nvPr/>
        </p:nvSpPr>
        <p:spPr>
          <a:xfrm>
            <a:off x="-12700" y="900458"/>
            <a:ext cx="9122410" cy="5774658"/>
          </a:xfrm>
          <a:prstGeom prst="rect">
            <a:avLst/>
          </a:prstGeom>
          <a:noFill/>
          <a:ln>
            <a:noFill/>
          </a:ln>
        </p:spPr>
        <p:txBody>
          <a:bodyPr anchorCtr="0" anchor="t" bIns="0" lIns="0" spcFirstLastPara="1" rIns="0" wrap="square" tIns="110475">
            <a:spAutoFit/>
          </a:bodyPr>
          <a:lstStyle/>
          <a:p>
            <a:pPr indent="-869950" lvl="2" marL="882650" rtl="0" algn="just">
              <a:lnSpc>
                <a:spcPct val="100000"/>
              </a:lnSpc>
              <a:spcBef>
                <a:spcPts val="0"/>
              </a:spcBef>
              <a:spcAft>
                <a:spcPts val="0"/>
              </a:spcAft>
              <a:buClr>
                <a:srgbClr val="FFC000"/>
              </a:buClr>
              <a:buSzPts val="3200"/>
              <a:buFont typeface="Constantia"/>
              <a:buAutoNum type="arabicPeriod"/>
            </a:pPr>
            <a:r>
              <a:rPr b="1" lang="fr-FR" sz="3200">
                <a:solidFill>
                  <a:srgbClr val="FFC000"/>
                </a:solidFill>
                <a:latin typeface="Constantia"/>
                <a:ea typeface="Constantia"/>
                <a:cs typeface="Constantia"/>
                <a:sym typeface="Constantia"/>
              </a:rPr>
              <a:t>Principe</a:t>
            </a:r>
            <a:endParaRPr sz="3200">
              <a:latin typeface="Constantia"/>
              <a:ea typeface="Constantia"/>
              <a:cs typeface="Constantia"/>
              <a:sym typeface="Constantia"/>
            </a:endParaRPr>
          </a:p>
          <a:p>
            <a:pPr indent="-177800" lvl="0" marL="449263" rtl="0" algn="l">
              <a:spcBef>
                <a:spcPts val="0"/>
              </a:spcBef>
              <a:spcAft>
                <a:spcPts val="0"/>
              </a:spcAft>
              <a:buSzPts val="2800"/>
              <a:buFont typeface="Noto Sans Symbols"/>
              <a:buChar char="⮚"/>
            </a:pPr>
            <a:r>
              <a:rPr lang="fr-FR" sz="2800"/>
              <a:t>DSATUR is a graph coloring algorithm created by Daniel Brélaz in 1979 at EPFL (École Polytechnique Fédérale de Lausanne).</a:t>
            </a:r>
            <a:endParaRPr/>
          </a:p>
          <a:p>
            <a:pPr indent="-177800" lvl="0" marL="449263" rtl="0" algn="l">
              <a:spcBef>
                <a:spcPts val="0"/>
              </a:spcBef>
              <a:spcAft>
                <a:spcPts val="0"/>
              </a:spcAft>
              <a:buSzPts val="2800"/>
              <a:buFont typeface="Noto Sans Symbols"/>
              <a:buChar char="⮚"/>
            </a:pPr>
            <a:r>
              <a:rPr lang="fr-FR" sz="2800"/>
              <a:t>It is a sequential coloring algorithm based on heuristics.</a:t>
            </a:r>
            <a:endParaRPr/>
          </a:p>
          <a:p>
            <a:pPr indent="-177800" lvl="0" marL="449263" rtl="0" algn="l">
              <a:spcBef>
                <a:spcPts val="0"/>
              </a:spcBef>
              <a:spcAft>
                <a:spcPts val="0"/>
              </a:spcAft>
              <a:buSzPts val="2800"/>
              <a:buFont typeface="Noto Sans Symbols"/>
              <a:buChar char="⮚"/>
            </a:pPr>
            <a:r>
              <a:rPr lang="fr-FR" sz="2800"/>
              <a:t>DSATUR is an abbreviation for "degree of saturation" and is calculated as follows:</a:t>
            </a:r>
            <a:br>
              <a:rPr lang="fr-FR" sz="2800"/>
            </a:br>
            <a:endParaRPr sz="2800"/>
          </a:p>
          <a:p>
            <a:pPr indent="-514350" lvl="0" marL="1435100" rtl="0" algn="l">
              <a:spcBef>
                <a:spcPts val="0"/>
              </a:spcBef>
              <a:spcAft>
                <a:spcPts val="0"/>
              </a:spcAft>
              <a:buSzPts val="2800"/>
              <a:buFont typeface="Calibri"/>
              <a:buAutoNum type="alphaLcPeriod"/>
            </a:pPr>
            <a:r>
              <a:rPr lang="fr-FR" sz="2800"/>
              <a:t>If no neighbor of vertex x is colored, then DSATUR(x)= the degree of x.</a:t>
            </a:r>
            <a:endParaRPr/>
          </a:p>
          <a:p>
            <a:pPr indent="-514350" lvl="0" marL="1435100" rtl="0" algn="l">
              <a:spcBef>
                <a:spcPts val="0"/>
              </a:spcBef>
              <a:spcAft>
                <a:spcPts val="0"/>
              </a:spcAft>
              <a:buSzPts val="2800"/>
              <a:buFont typeface="Calibri"/>
              <a:buAutoNum type="alphaLcPeriod"/>
            </a:pPr>
            <a:r>
              <a:rPr lang="fr-FR" sz="2800"/>
              <a:t>Otherwise, DSATUR(x)=the number of different colors used in the neighborhood of x.</a:t>
            </a:r>
            <a:endParaRPr sz="2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12700" y="413461"/>
            <a:ext cx="4537710"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3. DSATUR Algorithm</a:t>
            </a:r>
            <a:endParaRPr/>
          </a:p>
        </p:txBody>
      </p:sp>
      <p:sp>
        <p:nvSpPr>
          <p:cNvPr id="181" name="Google Shape;181;p21"/>
          <p:cNvSpPr txBox="1"/>
          <p:nvPr/>
        </p:nvSpPr>
        <p:spPr>
          <a:xfrm>
            <a:off x="-12700" y="900376"/>
            <a:ext cx="9156700" cy="5990100"/>
          </a:xfrm>
          <a:prstGeom prst="rect">
            <a:avLst/>
          </a:prstGeom>
          <a:noFill/>
          <a:ln>
            <a:noFill/>
          </a:ln>
        </p:spPr>
        <p:txBody>
          <a:bodyPr anchorCtr="0" anchor="t" bIns="0" lIns="0" spcFirstLastPara="1" rIns="0" wrap="square" tIns="11047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2. Algorithm Steps</a:t>
            </a:r>
            <a:endParaRPr sz="3200">
              <a:latin typeface="Constantia"/>
              <a:ea typeface="Constantia"/>
              <a:cs typeface="Constantia"/>
              <a:sym typeface="Constantia"/>
            </a:endParaRPr>
          </a:p>
          <a:p>
            <a:pPr indent="-346075" lvl="0" marL="358775" rtl="0" algn="l">
              <a:lnSpc>
                <a:spcPct val="125000"/>
              </a:lnSpc>
              <a:spcBef>
                <a:spcPts val="0"/>
              </a:spcBef>
              <a:spcAft>
                <a:spcPts val="0"/>
              </a:spcAft>
              <a:buNone/>
            </a:pPr>
            <a:r>
              <a:rPr lang="fr-FR" sz="2800"/>
              <a:t>At the beginning, the graph is uncolored.</a:t>
            </a:r>
            <a:endParaRPr/>
          </a:p>
          <a:p>
            <a:pPr indent="-346075" lvl="0" marL="358775" rtl="0" algn="just">
              <a:lnSpc>
                <a:spcPct val="125000"/>
              </a:lnSpc>
              <a:spcBef>
                <a:spcPts val="0"/>
              </a:spcBef>
              <a:spcAft>
                <a:spcPts val="0"/>
              </a:spcAft>
              <a:buClr>
                <a:srgbClr val="C00000"/>
              </a:buClr>
              <a:buSzPts val="2800"/>
              <a:buFont typeface="Calibri"/>
              <a:buAutoNum type="arabicPeriod"/>
            </a:pPr>
            <a:r>
              <a:rPr lang="fr-FR" sz="2800"/>
              <a:t>Order the vertices in decreasing order of degree.</a:t>
            </a:r>
            <a:endParaRPr/>
          </a:p>
          <a:p>
            <a:pPr indent="-346075" lvl="0" marL="358775" rtl="0" algn="just">
              <a:lnSpc>
                <a:spcPct val="125000"/>
              </a:lnSpc>
              <a:spcBef>
                <a:spcPts val="0"/>
              </a:spcBef>
              <a:spcAft>
                <a:spcPts val="0"/>
              </a:spcAft>
              <a:buClr>
                <a:srgbClr val="C00000"/>
              </a:buClr>
              <a:buSzPts val="2800"/>
              <a:buFont typeface="Calibri"/>
              <a:buAutoNum type="arabicPeriod"/>
            </a:pPr>
            <a:r>
              <a:rPr lang="fr-FR" sz="2800"/>
              <a:t>Color a vertex with the maximum degree using color 1.</a:t>
            </a:r>
            <a:endParaRPr/>
          </a:p>
          <a:p>
            <a:pPr indent="-346075" lvl="0" marL="358775" rtl="0" algn="just">
              <a:lnSpc>
                <a:spcPct val="125000"/>
              </a:lnSpc>
              <a:spcBef>
                <a:spcPts val="0"/>
              </a:spcBef>
              <a:spcAft>
                <a:spcPts val="0"/>
              </a:spcAft>
              <a:buClr>
                <a:srgbClr val="C00000"/>
              </a:buClr>
              <a:buSzPts val="2800"/>
              <a:buFont typeface="Calibri"/>
              <a:buAutoNum type="arabicPeriod"/>
            </a:pPr>
            <a:r>
              <a:rPr lang="fr-FR" sz="2800"/>
              <a:t>Choose an uncolored vertex with the maximum DSATUR. </a:t>
            </a:r>
            <a:endParaRPr/>
          </a:p>
          <a:p>
            <a:pPr indent="-346075" lvl="0" marL="358775" rtl="0" algn="just">
              <a:lnSpc>
                <a:spcPct val="125000"/>
              </a:lnSpc>
              <a:spcBef>
                <a:spcPts val="0"/>
              </a:spcBef>
              <a:spcAft>
                <a:spcPts val="0"/>
              </a:spcAft>
              <a:buClr>
                <a:srgbClr val="C00000"/>
              </a:buClr>
              <a:buSzPts val="2800"/>
              <a:buFont typeface="Calibri"/>
              <a:buAutoNum type="arabicPeriod"/>
            </a:pPr>
            <a:r>
              <a:rPr lang="fr-FR" sz="2800"/>
              <a:t>In case of a equality, choose the one with the maximum degree.</a:t>
            </a:r>
            <a:endParaRPr/>
          </a:p>
          <a:p>
            <a:pPr indent="-346075" lvl="0" marL="358775" rtl="0" algn="just">
              <a:lnSpc>
                <a:spcPct val="125000"/>
              </a:lnSpc>
              <a:spcBef>
                <a:spcPts val="0"/>
              </a:spcBef>
              <a:spcAft>
                <a:spcPts val="0"/>
              </a:spcAft>
              <a:buClr>
                <a:srgbClr val="C00000"/>
              </a:buClr>
              <a:buSzPts val="2800"/>
              <a:buFont typeface="Calibri"/>
              <a:buAutoNum type="arabicPeriod"/>
            </a:pPr>
            <a:r>
              <a:rPr lang="fr-FR" sz="2800"/>
              <a:t>Color this vertex with the smallest available color.</a:t>
            </a:r>
            <a:endParaRPr/>
          </a:p>
          <a:p>
            <a:pPr indent="-346075" lvl="0" marL="358775" rtl="0" algn="just">
              <a:lnSpc>
                <a:spcPct val="125000"/>
              </a:lnSpc>
              <a:spcBef>
                <a:spcPts val="0"/>
              </a:spcBef>
              <a:spcAft>
                <a:spcPts val="0"/>
              </a:spcAft>
              <a:buClr>
                <a:srgbClr val="C00000"/>
              </a:buClr>
              <a:buSzPts val="2800"/>
              <a:buFont typeface="Calibri"/>
              <a:buAutoNum type="arabicPeriod"/>
            </a:pPr>
            <a:r>
              <a:rPr lang="fr-FR" sz="2800"/>
              <a:t>If all vertices are colored, then stop. Otherwise, go back to step 3.</a:t>
            </a:r>
            <a:endParaRPr sz="2800">
              <a:latin typeface="Constantia"/>
              <a:ea typeface="Constantia"/>
              <a:cs typeface="Constantia"/>
              <a:sym typeface="Constant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2"/>
          <p:cNvPicPr preferRelativeResize="0"/>
          <p:nvPr/>
        </p:nvPicPr>
        <p:blipFill rotWithShape="1">
          <a:blip r:embed="rId3">
            <a:alphaModFix/>
          </a:blip>
          <a:srcRect b="0" l="0" r="0" t="0"/>
          <a:stretch/>
        </p:blipFill>
        <p:spPr>
          <a:xfrm>
            <a:off x="24383" y="12191"/>
            <a:ext cx="5908548" cy="449579"/>
          </a:xfrm>
          <a:prstGeom prst="rect">
            <a:avLst/>
          </a:prstGeom>
          <a:noFill/>
          <a:ln>
            <a:noFill/>
          </a:ln>
        </p:spPr>
      </p:pic>
      <p:sp>
        <p:nvSpPr>
          <p:cNvPr id="187" name="Google Shape;187;p22"/>
          <p:cNvSpPr txBox="1"/>
          <p:nvPr>
            <p:ph type="title"/>
          </p:nvPr>
        </p:nvSpPr>
        <p:spPr>
          <a:xfrm>
            <a:off x="-12700" y="413461"/>
            <a:ext cx="4537710"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 DSATUR Algorithm</a:t>
            </a:r>
            <a:endParaRPr/>
          </a:p>
        </p:txBody>
      </p:sp>
      <p:sp>
        <p:nvSpPr>
          <p:cNvPr id="188" name="Google Shape;188;p22"/>
          <p:cNvSpPr txBox="1"/>
          <p:nvPr/>
        </p:nvSpPr>
        <p:spPr>
          <a:xfrm>
            <a:off x="-12700" y="900226"/>
            <a:ext cx="9111615" cy="2150588"/>
          </a:xfrm>
          <a:prstGeom prst="rect">
            <a:avLst/>
          </a:prstGeom>
          <a:noFill/>
          <a:ln>
            <a:noFill/>
          </a:ln>
        </p:spPr>
        <p:txBody>
          <a:bodyPr anchorCtr="0" anchor="t" bIns="0" lIns="0" spcFirstLastPara="1" rIns="0" wrap="square" tIns="11047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sz="3200">
              <a:latin typeface="Constantia"/>
              <a:ea typeface="Constantia"/>
              <a:cs typeface="Constantia"/>
              <a:sym typeface="Constantia"/>
            </a:endParaRPr>
          </a:p>
          <a:p>
            <a:pPr indent="0" lvl="0" marL="12700" rtl="0" algn="l">
              <a:lnSpc>
                <a:spcPct val="100000"/>
              </a:lnSpc>
              <a:spcBef>
                <a:spcPts val="770"/>
              </a:spcBef>
              <a:spcAft>
                <a:spcPts val="0"/>
              </a:spcAft>
              <a:buNone/>
            </a:pPr>
            <a:r>
              <a:rPr lang="fr-FR" sz="2800"/>
              <a:t>Let the colors be hierarchized</a:t>
            </a:r>
            <a:r>
              <a:rPr lang="fr-FR" sz="3200"/>
              <a:t>:</a:t>
            </a:r>
            <a:endParaRPr sz="3200">
              <a:latin typeface="Constantia"/>
              <a:ea typeface="Constantia"/>
              <a:cs typeface="Constantia"/>
              <a:sym typeface="Constantia"/>
            </a:endParaRPr>
          </a:p>
          <a:p>
            <a:pPr indent="0" lvl="0" marL="12700" marR="5080" rtl="0" algn="l">
              <a:lnSpc>
                <a:spcPct val="100000"/>
              </a:lnSpc>
              <a:spcBef>
                <a:spcPts val="710"/>
              </a:spcBef>
              <a:spcAft>
                <a:spcPts val="0"/>
              </a:spcAft>
              <a:buNone/>
            </a:pPr>
            <a:r>
              <a:rPr lang="fr-FR" sz="2800"/>
              <a:t>We take the vertex with the highest degree, which is vertex 1. We assign it the minimum color, i.e., C1.</a:t>
            </a:r>
            <a:endParaRPr sz="2800">
              <a:latin typeface="Constantia"/>
              <a:ea typeface="Constantia"/>
              <a:cs typeface="Constantia"/>
              <a:sym typeface="Constantia"/>
            </a:endParaRPr>
          </a:p>
        </p:txBody>
      </p:sp>
      <p:pic>
        <p:nvPicPr>
          <p:cNvPr id="189" name="Google Shape;189;p22"/>
          <p:cNvPicPr preferRelativeResize="0"/>
          <p:nvPr/>
        </p:nvPicPr>
        <p:blipFill rotWithShape="1">
          <a:blip r:embed="rId4">
            <a:alphaModFix/>
          </a:blip>
          <a:srcRect b="0" l="0" r="0" t="0"/>
          <a:stretch/>
        </p:blipFill>
        <p:spPr>
          <a:xfrm>
            <a:off x="2340864" y="3285744"/>
            <a:ext cx="4376928" cy="3383279"/>
          </a:xfrm>
          <a:prstGeom prst="rect">
            <a:avLst/>
          </a:prstGeom>
          <a:noFill/>
          <a:ln>
            <a:noFill/>
          </a:ln>
        </p:spPr>
      </p:pic>
      <p:pic>
        <p:nvPicPr>
          <p:cNvPr id="190" name="Google Shape;190;p22"/>
          <p:cNvPicPr preferRelativeResize="0"/>
          <p:nvPr/>
        </p:nvPicPr>
        <p:blipFill rotWithShape="1">
          <a:blip r:embed="rId5">
            <a:alphaModFix/>
          </a:blip>
          <a:srcRect b="0" l="0" r="0" t="0"/>
          <a:stretch/>
        </p:blipFill>
        <p:spPr>
          <a:xfrm>
            <a:off x="5001768" y="1484375"/>
            <a:ext cx="3913632" cy="6492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12700" y="413461"/>
            <a:ext cx="4537710"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 DSATUR Algorithm</a:t>
            </a:r>
            <a:endParaRPr/>
          </a:p>
        </p:txBody>
      </p:sp>
      <p:sp>
        <p:nvSpPr>
          <p:cNvPr id="196" name="Google Shape;196;p23"/>
          <p:cNvSpPr txBox="1"/>
          <p:nvPr/>
        </p:nvSpPr>
        <p:spPr>
          <a:xfrm>
            <a:off x="-12700" y="900546"/>
            <a:ext cx="9121775" cy="2848216"/>
          </a:xfrm>
          <a:prstGeom prst="rect">
            <a:avLst/>
          </a:prstGeom>
          <a:noFill/>
          <a:ln>
            <a:noFill/>
          </a:ln>
        </p:spPr>
        <p:txBody>
          <a:bodyPr anchorCtr="0" anchor="t" bIns="0" lIns="0" spcFirstLastPara="1" rIns="0" wrap="square" tIns="110475">
            <a:spAutoFit/>
          </a:bodyPr>
          <a:lstStyle/>
          <a:p>
            <a:pPr indent="0" lvl="0" marL="12700" rtl="0" algn="just">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sz="3200">
              <a:latin typeface="Constantia"/>
              <a:ea typeface="Constantia"/>
              <a:cs typeface="Constantia"/>
              <a:sym typeface="Constantia"/>
            </a:endParaRPr>
          </a:p>
          <a:p>
            <a:pPr indent="0" lvl="0" marL="12700" marR="5080" rtl="0" algn="just">
              <a:lnSpc>
                <a:spcPct val="100000"/>
              </a:lnSpc>
              <a:spcBef>
                <a:spcPts val="690"/>
              </a:spcBef>
              <a:spcAft>
                <a:spcPts val="0"/>
              </a:spcAft>
              <a:buNone/>
            </a:pPr>
            <a:r>
              <a:rPr lang="fr-FR" sz="2800"/>
              <a:t>Then, we examine the neighbors of vertex 1, starting with the one having the highest DSATUR. In case of equality we select the one with the highest degree. We select vertex 6 and assign it the smallest available color, but different from the color of vertex 1. We choose C2.</a:t>
            </a:r>
            <a:endParaRPr sz="2800">
              <a:latin typeface="Constantia"/>
              <a:ea typeface="Constantia"/>
              <a:cs typeface="Constantia"/>
              <a:sym typeface="Constantia"/>
            </a:endParaRPr>
          </a:p>
        </p:txBody>
      </p:sp>
      <p:pic>
        <p:nvPicPr>
          <p:cNvPr id="197" name="Google Shape;197;p23"/>
          <p:cNvPicPr preferRelativeResize="0"/>
          <p:nvPr/>
        </p:nvPicPr>
        <p:blipFill rotWithShape="1">
          <a:blip r:embed="rId3">
            <a:alphaModFix/>
          </a:blip>
          <a:srcRect b="0" l="0" r="0" t="0"/>
          <a:stretch/>
        </p:blipFill>
        <p:spPr>
          <a:xfrm>
            <a:off x="2310383" y="3810000"/>
            <a:ext cx="4242817" cy="29321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12700" y="413461"/>
            <a:ext cx="4537710"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 DSATUR Algorithm</a:t>
            </a:r>
            <a:endParaRPr/>
          </a:p>
        </p:txBody>
      </p:sp>
      <p:sp>
        <p:nvSpPr>
          <p:cNvPr id="203" name="Google Shape;203;p24"/>
          <p:cNvSpPr txBox="1"/>
          <p:nvPr/>
        </p:nvSpPr>
        <p:spPr>
          <a:xfrm>
            <a:off x="-12700" y="900546"/>
            <a:ext cx="7628890" cy="604012"/>
          </a:xfrm>
          <a:prstGeom prst="rect">
            <a:avLst/>
          </a:prstGeom>
          <a:noFill/>
          <a:ln>
            <a:noFill/>
          </a:ln>
        </p:spPr>
        <p:txBody>
          <a:bodyPr anchorCtr="0" anchor="t" bIns="0" lIns="0" spcFirstLastPara="1" rIns="0" wrap="square" tIns="11047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sz="3200">
              <a:latin typeface="Constantia"/>
              <a:ea typeface="Constantia"/>
              <a:cs typeface="Constantia"/>
              <a:sym typeface="Constantia"/>
            </a:endParaRPr>
          </a:p>
        </p:txBody>
      </p:sp>
      <p:sp>
        <p:nvSpPr>
          <p:cNvPr id="204" name="Google Shape;204;p24"/>
          <p:cNvSpPr txBox="1"/>
          <p:nvPr/>
        </p:nvSpPr>
        <p:spPr>
          <a:xfrm>
            <a:off x="-12700" y="1524000"/>
            <a:ext cx="9122410" cy="1737655"/>
          </a:xfrm>
          <a:prstGeom prst="rect">
            <a:avLst/>
          </a:prstGeom>
          <a:noFill/>
          <a:ln>
            <a:noFill/>
          </a:ln>
        </p:spPr>
        <p:txBody>
          <a:bodyPr anchorCtr="0" anchor="t" bIns="0" lIns="0" spcFirstLastPara="1" rIns="0" wrap="square" tIns="13950">
            <a:spAutoFit/>
          </a:bodyPr>
          <a:lstStyle/>
          <a:p>
            <a:pPr indent="0" lvl="0" marL="12700" marR="5080" rtl="0" algn="l">
              <a:lnSpc>
                <a:spcPct val="100000"/>
              </a:lnSpc>
              <a:spcBef>
                <a:spcPts val="0"/>
              </a:spcBef>
              <a:spcAft>
                <a:spcPts val="0"/>
              </a:spcAft>
              <a:buNone/>
            </a:pPr>
            <a:r>
              <a:rPr lang="fr-FR" sz="2800"/>
              <a:t>We apply the same procedure for the neighbor of the vertex with the highest DSATUR, namely vertex 5. We assign it the smallest available color, different from that of its neighbors: color C3.</a:t>
            </a:r>
            <a:endParaRPr sz="2800">
              <a:latin typeface="Constantia"/>
              <a:ea typeface="Constantia"/>
              <a:cs typeface="Constantia"/>
              <a:sym typeface="Constantia"/>
            </a:endParaRPr>
          </a:p>
        </p:txBody>
      </p:sp>
      <p:pic>
        <p:nvPicPr>
          <p:cNvPr id="205" name="Google Shape;205;p24"/>
          <p:cNvPicPr preferRelativeResize="0"/>
          <p:nvPr/>
        </p:nvPicPr>
        <p:blipFill rotWithShape="1">
          <a:blip r:embed="rId3">
            <a:alphaModFix/>
          </a:blip>
          <a:srcRect b="0" l="0" r="0" t="0"/>
          <a:stretch/>
        </p:blipFill>
        <p:spPr>
          <a:xfrm>
            <a:off x="2310383" y="3377184"/>
            <a:ext cx="4407408" cy="340461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type="title"/>
          </p:nvPr>
        </p:nvSpPr>
        <p:spPr>
          <a:xfrm>
            <a:off x="-12700" y="413461"/>
            <a:ext cx="4537710" cy="5124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2. DSATUR Algorithm</a:t>
            </a:r>
            <a:endParaRPr/>
          </a:p>
        </p:txBody>
      </p:sp>
      <p:sp>
        <p:nvSpPr>
          <p:cNvPr id="211" name="Google Shape;211;p25"/>
          <p:cNvSpPr txBox="1"/>
          <p:nvPr/>
        </p:nvSpPr>
        <p:spPr>
          <a:xfrm>
            <a:off x="-12700" y="900546"/>
            <a:ext cx="9116695" cy="1555554"/>
          </a:xfrm>
          <a:prstGeom prst="rect">
            <a:avLst/>
          </a:prstGeom>
          <a:noFill/>
          <a:ln>
            <a:noFill/>
          </a:ln>
        </p:spPr>
        <p:txBody>
          <a:bodyPr anchorCtr="0" anchor="t" bIns="0" lIns="0" spcFirstLastPara="1" rIns="0" wrap="square" tIns="110475">
            <a:spAutoFit/>
          </a:bodyPr>
          <a:lstStyle/>
          <a:p>
            <a:pPr indent="0" lvl="0" marL="12700" rtl="0" algn="l">
              <a:lnSpc>
                <a:spcPct val="100000"/>
              </a:lnSpc>
              <a:spcBef>
                <a:spcPts val="0"/>
              </a:spcBef>
              <a:spcAft>
                <a:spcPts val="0"/>
              </a:spcAft>
              <a:buNone/>
            </a:pPr>
            <a:r>
              <a:rPr b="1" lang="fr-FR" sz="3200">
                <a:solidFill>
                  <a:srgbClr val="FFC000"/>
                </a:solidFill>
                <a:latin typeface="Constantia"/>
                <a:ea typeface="Constantia"/>
                <a:cs typeface="Constantia"/>
                <a:sym typeface="Constantia"/>
              </a:rPr>
              <a:t>3. Example</a:t>
            </a:r>
            <a:endParaRPr sz="3200">
              <a:latin typeface="Constantia"/>
              <a:ea typeface="Constantia"/>
              <a:cs typeface="Constantia"/>
              <a:sym typeface="Constantia"/>
            </a:endParaRPr>
          </a:p>
          <a:p>
            <a:pPr indent="0" lvl="0" marL="12700" marR="5080" rtl="0" algn="l">
              <a:lnSpc>
                <a:spcPct val="100000"/>
              </a:lnSpc>
              <a:spcBef>
                <a:spcPts val="690"/>
              </a:spcBef>
              <a:spcAft>
                <a:spcPts val="0"/>
              </a:spcAft>
              <a:buNone/>
            </a:pPr>
            <a:r>
              <a:rPr lang="fr-FR" sz="2800"/>
              <a:t>We repeat the process for all the other vertices. In the end, we obtain:</a:t>
            </a:r>
            <a:endParaRPr sz="2800">
              <a:latin typeface="Constantia"/>
              <a:ea typeface="Constantia"/>
              <a:cs typeface="Constantia"/>
              <a:sym typeface="Constantia"/>
            </a:endParaRPr>
          </a:p>
        </p:txBody>
      </p:sp>
      <p:pic>
        <p:nvPicPr>
          <p:cNvPr id="212" name="Google Shape;212;p25"/>
          <p:cNvPicPr preferRelativeResize="0"/>
          <p:nvPr/>
        </p:nvPicPr>
        <p:blipFill rotWithShape="1">
          <a:blip r:embed="rId3">
            <a:alphaModFix/>
          </a:blip>
          <a:srcRect b="0" l="0" r="0" t="0"/>
          <a:stretch/>
        </p:blipFill>
        <p:spPr>
          <a:xfrm>
            <a:off x="2310383" y="3191255"/>
            <a:ext cx="4407408" cy="340461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1587500" y="413461"/>
            <a:ext cx="5422900" cy="50462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fr-FR"/>
              <a:t>The Four Color Theorem</a:t>
            </a:r>
            <a:endParaRPr/>
          </a:p>
        </p:txBody>
      </p:sp>
      <p:sp>
        <p:nvSpPr>
          <p:cNvPr id="218" name="Google Shape;218;p26"/>
          <p:cNvSpPr/>
          <p:nvPr/>
        </p:nvSpPr>
        <p:spPr>
          <a:xfrm>
            <a:off x="228600" y="1295400"/>
            <a:ext cx="8610600" cy="4832092"/>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lang="fr-FR" sz="2800"/>
              <a:t>One of the most famous problems in graph theory is the Four Color Problem. This problem remained unsolved for more than a century. In 1852, F. Guthrie asked whether it was possible to color a geographical map using four colors such that neighboring countries have different colors.</a:t>
            </a:r>
            <a:endParaRPr/>
          </a:p>
          <a:p>
            <a:pPr indent="0" lvl="0" marL="0" rtl="0" algn="just">
              <a:spcBef>
                <a:spcPts val="0"/>
              </a:spcBef>
              <a:spcAft>
                <a:spcPts val="0"/>
              </a:spcAft>
              <a:buNone/>
            </a:pPr>
            <a:r>
              <a:rPr lang="fr-FR" sz="2800"/>
              <a:t>Numerous works were published in the following century to reduce the number of colors to four, until the final proof by American researchers K. Appel and W. Haken in 1976. They were able to affirmatively answer this Four Color Conjecture.</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nvSpPr>
        <p:spPr>
          <a:xfrm>
            <a:off x="-12700" y="314438"/>
            <a:ext cx="9115425" cy="3373744"/>
          </a:xfrm>
          <a:prstGeom prst="rect">
            <a:avLst/>
          </a:prstGeom>
          <a:noFill/>
          <a:ln>
            <a:noFill/>
          </a:ln>
        </p:spPr>
        <p:txBody>
          <a:bodyPr anchorCtr="0" anchor="t" bIns="0" lIns="0" spcFirstLastPara="1" rIns="0" wrap="square" tIns="12700">
            <a:spAutoFit/>
          </a:bodyPr>
          <a:lstStyle/>
          <a:p>
            <a:pPr indent="0" lvl="0" marL="12700" marR="6819265" rtl="0" algn="just">
              <a:lnSpc>
                <a:spcPct val="120100"/>
              </a:lnSpc>
              <a:spcBef>
                <a:spcPts val="0"/>
              </a:spcBef>
              <a:spcAft>
                <a:spcPts val="0"/>
              </a:spcAft>
              <a:buNone/>
            </a:pPr>
            <a:r>
              <a:rPr b="1" lang="fr-FR" sz="3200">
                <a:solidFill>
                  <a:srgbClr val="FFC000"/>
                </a:solidFill>
                <a:latin typeface="Constantia"/>
                <a:ea typeface="Constantia"/>
                <a:cs typeface="Constantia"/>
                <a:sym typeface="Constantia"/>
              </a:rPr>
              <a:t>Theorem :</a:t>
            </a:r>
            <a:endParaRPr sz="3200">
              <a:latin typeface="Constantia"/>
              <a:ea typeface="Constantia"/>
              <a:cs typeface="Constantia"/>
              <a:sym typeface="Constantia"/>
            </a:endParaRPr>
          </a:p>
          <a:p>
            <a:pPr indent="0" lvl="0" marL="927100" rtl="0" algn="just">
              <a:lnSpc>
                <a:spcPct val="100000"/>
              </a:lnSpc>
              <a:spcBef>
                <a:spcPts val="770"/>
              </a:spcBef>
              <a:spcAft>
                <a:spcPts val="0"/>
              </a:spcAft>
              <a:buNone/>
            </a:pPr>
            <a:r>
              <a:rPr lang="fr-FR" sz="3200"/>
              <a:t>Every planar graph is 4-chromatic.</a:t>
            </a:r>
            <a:endParaRPr/>
          </a:p>
          <a:p>
            <a:pPr indent="0" lvl="0" marL="85725" rtl="0" algn="just">
              <a:lnSpc>
                <a:spcPct val="100000"/>
              </a:lnSpc>
              <a:spcBef>
                <a:spcPts val="770"/>
              </a:spcBef>
              <a:spcAft>
                <a:spcPts val="0"/>
              </a:spcAft>
              <a:buNone/>
            </a:pPr>
            <a:r>
              <a:rPr b="1" lang="fr-FR" sz="3200">
                <a:solidFill>
                  <a:srgbClr val="FFC000"/>
                </a:solidFill>
                <a:latin typeface="Constantia"/>
                <a:ea typeface="Constantia"/>
                <a:cs typeface="Constantia"/>
                <a:sym typeface="Constantia"/>
              </a:rPr>
              <a:t>Application :</a:t>
            </a:r>
            <a:endParaRPr b="1" sz="3200">
              <a:solidFill>
                <a:srgbClr val="FFC000"/>
              </a:solidFill>
              <a:latin typeface="Constantia"/>
              <a:ea typeface="Constantia"/>
              <a:cs typeface="Constantia"/>
              <a:sym typeface="Constantia"/>
            </a:endParaRPr>
          </a:p>
          <a:p>
            <a:pPr indent="0" lvl="0" marL="85725" rtl="0" algn="just">
              <a:lnSpc>
                <a:spcPct val="100000"/>
              </a:lnSpc>
              <a:spcBef>
                <a:spcPts val="770"/>
              </a:spcBef>
              <a:spcAft>
                <a:spcPts val="0"/>
              </a:spcAft>
              <a:buNone/>
            </a:pPr>
            <a:r>
              <a:rPr lang="fr-FR" sz="3200"/>
              <a:t>It is possible to color any geographical map with four colors so that two regions sharing a common border have different colors.</a:t>
            </a:r>
            <a:endParaRPr sz="3200">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2025-03-14T11:32:05Z</dcterms:created>
  <dc:creator>pc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2019-12-18T00:00:00Z</vt:filetime>
  </property>
  <property fmtid="{D5CDD505-2E9C-101B-9397-08002B2CF9AE}" pid="3" name="Creator">
    <vt:lpwstr>Microsoft® PowerPoint® 2016</vt:lpwstr>
  </property>
  <property fmtid="{D5CDD505-2E9C-101B-9397-08002B2CF9AE}" pid="4" name="LastSaved">
    <vt:filetime>2025-03-14T00:00:00Z</vt:filetime>
  </property>
  <property fmtid="{D5CDD505-2E9C-101B-9397-08002B2CF9AE}" pid="5" name="Producer">
    <vt:lpwstr>www.ilovepdf.com</vt:lpwstr>
  </property>
</Properties>
</file>